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60" r:id="rId4"/>
    <p:sldId id="261" r:id="rId5"/>
    <p:sldId id="262" r:id="rId6"/>
    <p:sldId id="263" r:id="rId7"/>
    <p:sldId id="265" r:id="rId8"/>
    <p:sldId id="266" r:id="rId9"/>
    <p:sldId id="268"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22D87F-162B-48E2-8D2D-30D288D1A456}" v="1" dt="2024-10-23T10:35:25.8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493" autoAdjust="0"/>
  </p:normalViewPr>
  <p:slideViewPr>
    <p:cSldViewPr snapToGrid="0">
      <p:cViewPr varScale="1">
        <p:scale>
          <a:sx n="49" d="100"/>
          <a:sy n="49" d="100"/>
        </p:scale>
        <p:origin x="133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ren Earle" userId="d6616931-0bac-4747-a013-5107eae7a1da" providerId="ADAL" clId="{3A22D87F-162B-48E2-8D2D-30D288D1A456}"/>
    <pc:docChg chg="delSld modSld">
      <pc:chgData name="Warren Earle" userId="d6616931-0bac-4747-a013-5107eae7a1da" providerId="ADAL" clId="{3A22D87F-162B-48E2-8D2D-30D288D1A456}" dt="2024-10-23T10:45:24.663" v="35" actId="20577"/>
      <pc:docMkLst>
        <pc:docMk/>
      </pc:docMkLst>
      <pc:sldChg chg="del">
        <pc:chgData name="Warren Earle" userId="d6616931-0bac-4747-a013-5107eae7a1da" providerId="ADAL" clId="{3A22D87F-162B-48E2-8D2D-30D288D1A456}" dt="2024-10-23T10:32:57.937" v="13" actId="47"/>
        <pc:sldMkLst>
          <pc:docMk/>
          <pc:sldMk cId="451978817" sldId="257"/>
        </pc:sldMkLst>
      </pc:sldChg>
      <pc:sldChg chg="addSp delSp modSp mod modNotesTx">
        <pc:chgData name="Warren Earle" userId="d6616931-0bac-4747-a013-5107eae7a1da" providerId="ADAL" clId="{3A22D87F-162B-48E2-8D2D-30D288D1A456}" dt="2024-10-23T10:45:24.663" v="35" actId="20577"/>
        <pc:sldMkLst>
          <pc:docMk/>
          <pc:sldMk cId="3984425894" sldId="269"/>
        </pc:sldMkLst>
        <pc:spChg chg="mod">
          <ac:chgData name="Warren Earle" userId="d6616931-0bac-4747-a013-5107eae7a1da" providerId="ADAL" clId="{3A22D87F-162B-48E2-8D2D-30D288D1A456}" dt="2024-10-23T10:31:53.068" v="11" actId="20577"/>
          <ac:spMkLst>
            <pc:docMk/>
            <pc:sldMk cId="3984425894" sldId="269"/>
            <ac:spMk id="2" creationId="{B1599BAE-362E-7AF8-215C-8DE1C3A528D5}"/>
          </ac:spMkLst>
        </pc:spChg>
        <pc:spChg chg="del">
          <ac:chgData name="Warren Earle" userId="d6616931-0bac-4747-a013-5107eae7a1da" providerId="ADAL" clId="{3A22D87F-162B-48E2-8D2D-30D288D1A456}" dt="2024-10-23T10:35:25.860" v="17"/>
          <ac:spMkLst>
            <pc:docMk/>
            <pc:sldMk cId="3984425894" sldId="269"/>
            <ac:spMk id="3" creationId="{8D12C556-0FCD-414D-C8FF-C7DE74CB45EE}"/>
          </ac:spMkLst>
        </pc:spChg>
        <pc:spChg chg="mod">
          <ac:chgData name="Warren Earle" userId="d6616931-0bac-4747-a013-5107eae7a1da" providerId="ADAL" clId="{3A22D87F-162B-48E2-8D2D-30D288D1A456}" dt="2024-10-23T10:45:24.663" v="35" actId="20577"/>
          <ac:spMkLst>
            <pc:docMk/>
            <pc:sldMk cId="3984425894" sldId="269"/>
            <ac:spMk id="4" creationId="{2AC76F13-6C32-3B5E-184E-75B60C68D7F6}"/>
          </ac:spMkLst>
        </pc:spChg>
        <pc:picChg chg="add mod">
          <ac:chgData name="Warren Earle" userId="d6616931-0bac-4747-a013-5107eae7a1da" providerId="ADAL" clId="{3A22D87F-162B-48E2-8D2D-30D288D1A456}" dt="2024-10-23T10:35:29.731" v="18" actId="14100"/>
          <ac:picMkLst>
            <pc:docMk/>
            <pc:sldMk cId="3984425894" sldId="269"/>
            <ac:picMk id="5" creationId="{820DD51A-F458-FB15-768D-345FFA27E7E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B68C1-9C80-4446-8C3C-D65C85C5E4C5}" type="datetimeFigureOut">
              <a:rPr lang="en-GB" smtClean="0"/>
              <a:t>23/10/2024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7542F0-BD01-478D-B90C-A602FCDCDB5F}" type="slidenum">
              <a:rPr lang="en-GB" smtClean="0"/>
              <a:t>‹#›</a:t>
            </a:fld>
            <a:endParaRPr lang="en-GB"/>
          </a:p>
        </p:txBody>
      </p:sp>
    </p:spTree>
    <p:extLst>
      <p:ext uri="{BB962C8B-B14F-4D97-AF65-F5344CB8AC3E}">
        <p14:creationId xmlns:p14="http://schemas.microsoft.com/office/powerpoint/2010/main" val="106555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0000"/>
                </a:solidFill>
                <a:effectLst/>
                <a:latin typeface="Segoe UI" panose="020B0502040204020203" pitchFamily="34" charset="0"/>
              </a:rPr>
              <a:t>Snort is an open-source network intrusion detection system, capable of performing real-time traffic analysis and packet logging on IP networks. It can perform protocol analysis and content searching/matching and is used to detect a variety of attacks and probes such as buffer overflows, stealth port scans, CGI attacks, SMB probes, and OS fingerprinting attempts. It uses a flexible rules language to describe traffic to collect or pass, as well as a detection engine that utilizes a </a:t>
            </a:r>
            <a:r>
              <a:rPr lang="en-GB" b="0" i="0" dirty="0" err="1">
                <a:solidFill>
                  <a:srgbClr val="000000"/>
                </a:solidFill>
                <a:effectLst/>
                <a:latin typeface="Segoe UI" panose="020B0502040204020203" pitchFamily="34" charset="0"/>
              </a:rPr>
              <a:t>nort</a:t>
            </a:r>
            <a:r>
              <a:rPr lang="en-GB" b="0" i="0" dirty="0">
                <a:solidFill>
                  <a:srgbClr val="000000"/>
                </a:solidFill>
                <a:effectLst/>
                <a:latin typeface="Segoe UI" panose="020B0502040204020203" pitchFamily="34" charset="0"/>
              </a:rPr>
              <a:t> is an open-source network intrusion detection system, capable of performing real-time traffic analysis and packet logging on IP networks. It can perform protocol analysis and content searching/matching and is used to detect a variety of attacks and probes such as buffer overflows, stealth port scans, CGI attacks, SMB probes, and OS fingerprinting attempts. It uses a flexible rules language to describe traffic to collect or pass, as well as a detection engine that utilizes a modular plug-in </a:t>
            </a:r>
            <a:r>
              <a:rPr lang="en-GB" b="0" i="0" dirty="0" err="1">
                <a:solidFill>
                  <a:srgbClr val="000000"/>
                </a:solidFill>
                <a:effectLst/>
                <a:latin typeface="Segoe UI" panose="020B0502040204020203" pitchFamily="34" charset="0"/>
              </a:rPr>
              <a:t>architecture.Smodular</a:t>
            </a:r>
            <a:r>
              <a:rPr lang="en-GB" b="0" i="0" dirty="0">
                <a:solidFill>
                  <a:srgbClr val="000000"/>
                </a:solidFill>
                <a:effectLst/>
                <a:latin typeface="Segoe UI" panose="020B0502040204020203" pitchFamily="34" charset="0"/>
              </a:rPr>
              <a:t> plug-in architecture.</a:t>
            </a:r>
            <a:endParaRPr lang="en-GB" dirty="0"/>
          </a:p>
        </p:txBody>
      </p:sp>
      <p:sp>
        <p:nvSpPr>
          <p:cNvPr id="4" name="Slide Number Placeholder 3"/>
          <p:cNvSpPr>
            <a:spLocks noGrp="1"/>
          </p:cNvSpPr>
          <p:nvPr>
            <p:ph type="sldNum" sz="quarter" idx="5"/>
          </p:nvPr>
        </p:nvSpPr>
        <p:spPr/>
        <p:txBody>
          <a:bodyPr/>
          <a:lstStyle/>
          <a:p>
            <a:fld id="{537542F0-BD01-478D-B90C-A602FCDCDB5F}" type="slidenum">
              <a:rPr lang="en-GB" smtClean="0"/>
              <a:t>3</a:t>
            </a:fld>
            <a:endParaRPr lang="en-GB"/>
          </a:p>
        </p:txBody>
      </p:sp>
    </p:spTree>
    <p:extLst>
      <p:ext uri="{BB962C8B-B14F-4D97-AF65-F5344CB8AC3E}">
        <p14:creationId xmlns:p14="http://schemas.microsoft.com/office/powerpoint/2010/main" val="2977803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SNORT rule generates an alert for an ICMP Echo Request (ping) originating from any external network and targeting the specific internal IP address 10.10.1.19. The rule is classified as potentially dangerous (bad-unknown) and references known vulnerabilities related to ping/ICMP </a:t>
            </a:r>
            <a:r>
              <a:rPr lang="en-GB" dirty="0" err="1"/>
              <a:t>behavior</a:t>
            </a:r>
            <a:r>
              <a:rPr lang="en-GB" dirty="0"/>
              <a:t>, such as CVE-1999-0265, which is related to certain ICMP-based attacks.</a:t>
            </a:r>
          </a:p>
        </p:txBody>
      </p:sp>
      <p:sp>
        <p:nvSpPr>
          <p:cNvPr id="4" name="Slide Number Placeholder 3"/>
          <p:cNvSpPr>
            <a:spLocks noGrp="1"/>
          </p:cNvSpPr>
          <p:nvPr>
            <p:ph type="sldNum" sz="quarter" idx="5"/>
          </p:nvPr>
        </p:nvSpPr>
        <p:spPr/>
        <p:txBody>
          <a:bodyPr/>
          <a:lstStyle/>
          <a:p>
            <a:fld id="{537542F0-BD01-478D-B90C-A602FCDCDB5F}" type="slidenum">
              <a:rPr lang="en-GB" smtClean="0"/>
              <a:t>7</a:t>
            </a:fld>
            <a:endParaRPr lang="en-GB"/>
          </a:p>
        </p:txBody>
      </p:sp>
    </p:spTree>
    <p:extLst>
      <p:ext uri="{BB962C8B-B14F-4D97-AF65-F5344CB8AC3E}">
        <p14:creationId xmlns:p14="http://schemas.microsoft.com/office/powerpoint/2010/main" val="635905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37542F0-BD01-478D-B90C-A602FCDCDB5F}" type="slidenum">
              <a:rPr lang="en-GB" smtClean="0"/>
              <a:t>8</a:t>
            </a:fld>
            <a:endParaRPr lang="en-GB"/>
          </a:p>
        </p:txBody>
      </p:sp>
    </p:spTree>
    <p:extLst>
      <p:ext uri="{BB962C8B-B14F-4D97-AF65-F5344CB8AC3E}">
        <p14:creationId xmlns:p14="http://schemas.microsoft.com/office/powerpoint/2010/main" val="1263039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reflection question prompts critical thinking about both the offensive and defensive aspects of network security:</a:t>
            </a:r>
          </a:p>
          <a:p>
            <a:pPr>
              <a:buFont typeface="Arial" panose="020B0604020202020204" pitchFamily="34" charset="0"/>
              <a:buChar char="•"/>
            </a:pPr>
            <a:r>
              <a:rPr lang="en-GB" b="1" dirty="0"/>
              <a:t>Offensive Aspect</a:t>
            </a:r>
            <a:r>
              <a:rPr lang="en-GB" dirty="0"/>
              <a:t>: The attacker’s perspective on evading IDS systems using techniques such as traffic obfuscation, packet fragmentation, or protocol manipulation.</a:t>
            </a:r>
          </a:p>
          <a:p>
            <a:pPr>
              <a:buFont typeface="Arial" panose="020B0604020202020204" pitchFamily="34" charset="0"/>
              <a:buChar char="•"/>
            </a:pPr>
            <a:r>
              <a:rPr lang="en-GB" b="1" dirty="0"/>
              <a:t>Defensive Aspect</a:t>
            </a:r>
            <a:r>
              <a:rPr lang="en-GB" dirty="0"/>
              <a:t>: The defender's approach to enhancing IDS configurations, modifying rules, and applying new methods to detect and block sophisticated attack vectors.</a:t>
            </a:r>
          </a:p>
          <a:p>
            <a:pPr>
              <a:buFont typeface="Arial" panose="020B0604020202020204" pitchFamily="34" charset="0"/>
              <a:buChar char="•"/>
            </a:pPr>
            <a:endParaRPr lang="en-GB" dirty="0"/>
          </a:p>
          <a:p>
            <a:r>
              <a:rPr lang="en-GB" b="1" dirty="0"/>
              <a:t>Reflection Question:</a:t>
            </a:r>
          </a:p>
          <a:p>
            <a:r>
              <a:rPr lang="en-GB" b="1" dirty="0"/>
              <a:t>"How can attackers modify their techniques to evade SNORT detection, and what changes can be made to SNORT configurations or rules to improve detection of these evasion methods?"</a:t>
            </a:r>
            <a:endParaRPr lang="en-GB" dirty="0"/>
          </a:p>
          <a:p>
            <a:r>
              <a:rPr lang="en-GB" b="1" dirty="0"/>
              <a:t>Model Answer:</a:t>
            </a:r>
          </a:p>
          <a:p>
            <a:r>
              <a:rPr lang="en-GB" dirty="0"/>
              <a:t>Attackers can use a variety of techniques to evade detection by SNORT, including:</a:t>
            </a:r>
          </a:p>
          <a:p>
            <a:pPr>
              <a:buFont typeface="+mj-lt"/>
              <a:buAutoNum type="arabicPeriod"/>
            </a:pPr>
            <a:r>
              <a:rPr lang="en-GB" b="1" dirty="0"/>
              <a:t>Packet Fragmentation</a:t>
            </a:r>
            <a:r>
              <a:rPr lang="en-GB" dirty="0"/>
              <a:t>:</a:t>
            </a:r>
          </a:p>
          <a:p>
            <a:pPr marL="742950" lvl="1" indent="-285750">
              <a:buFont typeface="+mj-lt"/>
              <a:buAutoNum type="arabicPeriod"/>
            </a:pPr>
            <a:r>
              <a:rPr lang="en-GB" dirty="0"/>
              <a:t>Attackers can split malicious payloads into smaller fragments that individually may not match any predefined SNORT rules. Since SNORT often </a:t>
            </a:r>
            <a:r>
              <a:rPr lang="en-GB" dirty="0" err="1"/>
              <a:t>analyzes</a:t>
            </a:r>
            <a:r>
              <a:rPr lang="en-GB" dirty="0"/>
              <a:t> packets at the IP layer, this can make detection harder if the IDS is not set up to reassemble fragmented packets.</a:t>
            </a:r>
          </a:p>
          <a:p>
            <a:pPr>
              <a:buFont typeface="+mj-lt"/>
              <a:buAutoNum type="arabicPeriod"/>
            </a:pPr>
            <a:r>
              <a:rPr lang="en-GB" b="1" dirty="0"/>
              <a:t>Payload Obfuscation</a:t>
            </a:r>
            <a:r>
              <a:rPr lang="en-GB" dirty="0"/>
              <a:t>:</a:t>
            </a:r>
          </a:p>
          <a:p>
            <a:pPr marL="742950" lvl="1" indent="-285750">
              <a:buFont typeface="+mj-lt"/>
              <a:buAutoNum type="arabicPeriod"/>
            </a:pPr>
            <a:r>
              <a:rPr lang="en-GB" dirty="0"/>
              <a:t>This involves altering the payload in a way that makes it harder for signature-based systems to detect. For instance, attackers can use encoding or encryption to conceal malicious content within network traffic.</a:t>
            </a:r>
          </a:p>
          <a:p>
            <a:pPr>
              <a:buFont typeface="+mj-lt"/>
              <a:buAutoNum type="arabicPeriod"/>
            </a:pPr>
            <a:r>
              <a:rPr lang="en-GB" b="1" dirty="0"/>
              <a:t>Protocol or Port Evasion</a:t>
            </a:r>
            <a:r>
              <a:rPr lang="en-GB" dirty="0"/>
              <a:t>:</a:t>
            </a:r>
          </a:p>
          <a:p>
            <a:pPr marL="742950" lvl="1" indent="-285750">
              <a:buFont typeface="+mj-lt"/>
              <a:buAutoNum type="arabicPeriod"/>
            </a:pPr>
            <a:r>
              <a:rPr lang="en-GB" dirty="0"/>
              <a:t>Attackers may send malicious traffic over non-standard ports (e.g., using port 80, normally associated with HTTP, for attacks not related to web traffic) or even within protocols that are not often scrutinized by SNORT.</a:t>
            </a:r>
          </a:p>
          <a:p>
            <a:pPr>
              <a:buFont typeface="+mj-lt"/>
              <a:buAutoNum type="arabicPeriod"/>
            </a:pPr>
            <a:r>
              <a:rPr lang="en-GB" b="1" dirty="0"/>
              <a:t>Timing Attacks</a:t>
            </a:r>
            <a:r>
              <a:rPr lang="en-GB" dirty="0"/>
              <a:t>:</a:t>
            </a:r>
          </a:p>
          <a:p>
            <a:pPr marL="742950" lvl="1" indent="-285750">
              <a:buFont typeface="+mj-lt"/>
              <a:buAutoNum type="arabicPeriod"/>
            </a:pPr>
            <a:r>
              <a:rPr lang="en-GB" dirty="0"/>
              <a:t>Instead of bombarding a system with traffic, attackers can space out their malicious activity over time to avoid triggering rate-based detection systems.</a:t>
            </a:r>
          </a:p>
          <a:p>
            <a:pPr>
              <a:buFont typeface="+mj-lt"/>
              <a:buAutoNum type="arabicPeriod"/>
            </a:pPr>
            <a:r>
              <a:rPr lang="en-GB" b="1" dirty="0"/>
              <a:t>Use of </a:t>
            </a:r>
            <a:r>
              <a:rPr lang="en-GB" b="1" dirty="0" err="1"/>
              <a:t>Tunneling</a:t>
            </a:r>
            <a:r>
              <a:rPr lang="en-GB" dirty="0"/>
              <a:t>:</a:t>
            </a:r>
          </a:p>
          <a:p>
            <a:pPr marL="742950" lvl="1" indent="-285750">
              <a:buFont typeface="+mj-lt"/>
              <a:buAutoNum type="arabicPeriod"/>
            </a:pPr>
            <a:r>
              <a:rPr lang="en-GB" dirty="0"/>
              <a:t>Attackers may tunnel malicious traffic within allowed protocols like DNS or HTTP, where SNORT signatures may not cover every scenario of abuse within such protocols.</a:t>
            </a:r>
          </a:p>
          <a:p>
            <a:r>
              <a:rPr lang="en-GB" b="1" dirty="0"/>
              <a:t>Defensive Strategies for SNORT Configuration:</a:t>
            </a:r>
          </a:p>
          <a:p>
            <a:r>
              <a:rPr lang="en-GB" dirty="0"/>
              <a:t>To counter these evasion techniques, network defenders can adjust SNORT configurations as follows:</a:t>
            </a:r>
          </a:p>
          <a:p>
            <a:pPr>
              <a:buFont typeface="+mj-lt"/>
              <a:buAutoNum type="arabicPeriod"/>
            </a:pPr>
            <a:r>
              <a:rPr lang="en-GB" b="1" dirty="0"/>
              <a:t>Enable Preprocessors</a:t>
            </a:r>
            <a:r>
              <a:rPr lang="en-GB" dirty="0"/>
              <a:t>:</a:t>
            </a:r>
          </a:p>
          <a:p>
            <a:pPr marL="742950" lvl="1" indent="-285750">
              <a:buFont typeface="+mj-lt"/>
              <a:buAutoNum type="arabicPeriod"/>
            </a:pPr>
            <a:r>
              <a:rPr lang="en-GB" dirty="0"/>
              <a:t>Use SNORT’s preprocessors, such as the </a:t>
            </a:r>
            <a:r>
              <a:rPr lang="en-GB" b="1" dirty="0"/>
              <a:t>frag3</a:t>
            </a:r>
            <a:r>
              <a:rPr lang="en-GB" dirty="0"/>
              <a:t> preprocessor for packet reassembly, to detect attacks that rely on fragmentation. This allows SNORT to reconstruct fragmented packets and inspect the full payload for malicious content.</a:t>
            </a:r>
          </a:p>
          <a:p>
            <a:pPr>
              <a:buFont typeface="+mj-lt"/>
              <a:buAutoNum type="arabicPeriod"/>
            </a:pPr>
            <a:r>
              <a:rPr lang="en-GB" b="1" dirty="0"/>
              <a:t>Custom Rule Tuning</a:t>
            </a:r>
            <a:r>
              <a:rPr lang="en-GB" dirty="0"/>
              <a:t>:</a:t>
            </a:r>
          </a:p>
          <a:p>
            <a:pPr marL="742950" lvl="1" indent="-285750">
              <a:buFont typeface="+mj-lt"/>
              <a:buAutoNum type="arabicPeriod"/>
            </a:pPr>
            <a:r>
              <a:rPr lang="en-GB" dirty="0"/>
              <a:t>Adjust rules to include detection of non-standard port usage and more advanced inspection criteria. For example, instead of just detecting traffic on known ports (80 for HTTP, 443 for HTTPS), create rules that monitor for unexpected traffic types on these ports.</a:t>
            </a:r>
          </a:p>
          <a:p>
            <a:pPr>
              <a:buFont typeface="+mj-lt"/>
              <a:buAutoNum type="arabicPeriod"/>
            </a:pPr>
            <a:r>
              <a:rPr lang="en-GB" b="1" dirty="0"/>
              <a:t>Deep Packet Inspection</a:t>
            </a:r>
            <a:r>
              <a:rPr lang="en-GB" dirty="0"/>
              <a:t>:</a:t>
            </a:r>
          </a:p>
          <a:p>
            <a:pPr marL="742950" lvl="1" indent="-285750">
              <a:buFont typeface="+mj-lt"/>
              <a:buAutoNum type="arabicPeriod"/>
            </a:pPr>
            <a:r>
              <a:rPr lang="en-GB" dirty="0"/>
              <a:t>Utilize deep packet inspection (DPI) to </a:t>
            </a:r>
            <a:r>
              <a:rPr lang="en-GB" dirty="0" err="1"/>
              <a:t>analyze</a:t>
            </a:r>
            <a:r>
              <a:rPr lang="en-GB" dirty="0"/>
              <a:t> the contents of a packet beyond just its headers. This can help detect malicious payloads, even when they are obscured or fragmented.</a:t>
            </a:r>
          </a:p>
          <a:p>
            <a:pPr>
              <a:buFont typeface="+mj-lt"/>
              <a:buAutoNum type="arabicPeriod"/>
            </a:pPr>
            <a:r>
              <a:rPr lang="en-GB" b="1" dirty="0"/>
              <a:t>Traffic Anomaly Detection</a:t>
            </a:r>
            <a:r>
              <a:rPr lang="en-GB" dirty="0"/>
              <a:t>:</a:t>
            </a:r>
          </a:p>
          <a:p>
            <a:pPr marL="742950" lvl="1" indent="-285750">
              <a:buFont typeface="+mj-lt"/>
              <a:buAutoNum type="arabicPeriod"/>
            </a:pPr>
            <a:r>
              <a:rPr lang="en-GB" dirty="0"/>
              <a:t>Configure SNORT to also perform anomaly detection in addition to signature-based detection. This approach looks for deviations from baseline normal traffic, which can help detect novel or zero-day attack methods that haven’t yet been captured by predefined signatures.</a:t>
            </a:r>
          </a:p>
          <a:p>
            <a:pPr>
              <a:buFont typeface="+mj-lt"/>
              <a:buAutoNum type="arabicPeriod"/>
            </a:pPr>
            <a:r>
              <a:rPr lang="en-GB" b="1" dirty="0"/>
              <a:t>Frequent Updates to Rule Sets</a:t>
            </a:r>
            <a:r>
              <a:rPr lang="en-GB" dirty="0"/>
              <a:t>:</a:t>
            </a:r>
          </a:p>
          <a:p>
            <a:pPr marL="742950" lvl="1" indent="-285750">
              <a:buFont typeface="+mj-lt"/>
              <a:buAutoNum type="arabicPeriod"/>
            </a:pPr>
            <a:r>
              <a:rPr lang="en-GB" dirty="0"/>
              <a:t>Regularly update SNORT’s rule sets from sources like Emerging Threats or the SNORT community, which provides new signatures to detect the latest techniques used by attackers.</a:t>
            </a:r>
          </a:p>
          <a:p>
            <a:pPr>
              <a:buFont typeface="+mj-lt"/>
              <a:buAutoNum type="arabicPeriod"/>
            </a:pPr>
            <a:r>
              <a:rPr lang="en-GB" b="1" dirty="0"/>
              <a:t>Monitor Encrypted Traffic</a:t>
            </a:r>
            <a:r>
              <a:rPr lang="en-GB" dirty="0"/>
              <a:t>:</a:t>
            </a:r>
          </a:p>
          <a:p>
            <a:pPr marL="742950" lvl="1" indent="-285750">
              <a:buFont typeface="+mj-lt"/>
              <a:buAutoNum type="arabicPeriod"/>
            </a:pPr>
            <a:r>
              <a:rPr lang="en-GB" dirty="0"/>
              <a:t>While SNORT may not be able to decrypt encrypted traffic directly, it is still important to monitor the traffic patterns (e.g., abnormal SSL handshakes) to detect any irregularities in encrypted channels, which could indicate </a:t>
            </a:r>
            <a:r>
              <a:rPr lang="en-GB" dirty="0" err="1"/>
              <a:t>tunneling</a:t>
            </a:r>
            <a:r>
              <a:rPr lang="en-GB" dirty="0"/>
              <a:t> or other forms of evasion.</a:t>
            </a:r>
          </a:p>
          <a:p>
            <a:pPr>
              <a:buFont typeface="Arial" panose="020B0604020202020204" pitchFamily="34" charset="0"/>
              <a:buChar char="•"/>
            </a:pPr>
            <a:r>
              <a:rPr lang="en-GB" dirty="0"/>
              <a:t>By understanding both the methods attackers use to evade detection and the defensive strategies that SNORT can employ to mitigate these techniques, security teams can significantly enhance their network’s security posture.</a:t>
            </a:r>
          </a:p>
          <a:p>
            <a:endParaRPr lang="en-GB" dirty="0"/>
          </a:p>
        </p:txBody>
      </p:sp>
      <p:sp>
        <p:nvSpPr>
          <p:cNvPr id="4" name="Slide Number Placeholder 3"/>
          <p:cNvSpPr>
            <a:spLocks noGrp="1"/>
          </p:cNvSpPr>
          <p:nvPr>
            <p:ph type="sldNum" sz="quarter" idx="5"/>
          </p:nvPr>
        </p:nvSpPr>
        <p:spPr/>
        <p:txBody>
          <a:bodyPr/>
          <a:lstStyle/>
          <a:p>
            <a:fld id="{537542F0-BD01-478D-B90C-A602FCDCDB5F}" type="slidenum">
              <a:rPr lang="en-GB" smtClean="0"/>
              <a:t>10</a:t>
            </a:fld>
            <a:endParaRPr lang="en-GB"/>
          </a:p>
        </p:txBody>
      </p:sp>
    </p:spTree>
    <p:extLst>
      <p:ext uri="{BB962C8B-B14F-4D97-AF65-F5344CB8AC3E}">
        <p14:creationId xmlns:p14="http://schemas.microsoft.com/office/powerpoint/2010/main" val="3722150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AFEEA-D624-A4EB-E8C2-84A28504678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1DAB1F2-269C-7C81-5EEF-45D8A4D33C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212E9BA-B6BD-8598-3E5C-339EC9A92382}"/>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5" name="Footer Placeholder 4">
            <a:extLst>
              <a:ext uri="{FF2B5EF4-FFF2-40B4-BE49-F238E27FC236}">
                <a16:creationId xmlns:a16="http://schemas.microsoft.com/office/drawing/2014/main" id="{4FB43D78-9562-5EFD-5FBF-C38DCED896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C7C8C5-F542-A069-8466-B47EF4032260}"/>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1779568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B9C8B-DFE3-4B36-5D86-82E305D40C7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D6A0D85-A65B-5654-5FC7-50317DE9A03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892D80F-F55E-E1F8-630A-8C9BE5813EAF}"/>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5" name="Footer Placeholder 4">
            <a:extLst>
              <a:ext uri="{FF2B5EF4-FFF2-40B4-BE49-F238E27FC236}">
                <a16:creationId xmlns:a16="http://schemas.microsoft.com/office/drawing/2014/main" id="{9DBBEA63-518F-4444-EEE7-7610CF022A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1AE505-576A-3FCC-344E-F50B77F2AEB5}"/>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3226572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0EDD-DCD2-8DA8-CDDA-B1D21AA052B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F8A500C-F99E-3E35-6C58-E1C55C172C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2E1B1DB-191F-A096-91C4-8A1F94DCC2A4}"/>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5" name="Footer Placeholder 4">
            <a:extLst>
              <a:ext uri="{FF2B5EF4-FFF2-40B4-BE49-F238E27FC236}">
                <a16:creationId xmlns:a16="http://schemas.microsoft.com/office/drawing/2014/main" id="{2F3FC615-AF41-532E-4FE8-D63BDDED0B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5ED218-0778-E90B-DD91-0C3496984089}"/>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3487332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D8F38-90B8-6588-423D-02E3A76F5D9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BB58964-0848-F7E3-DF07-8DC9129436E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1F6A077D-71C7-21BC-B937-74AD2FEF555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A2DD62B-B5EB-9775-C421-1623F78131CF}"/>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6" name="Footer Placeholder 5">
            <a:extLst>
              <a:ext uri="{FF2B5EF4-FFF2-40B4-BE49-F238E27FC236}">
                <a16:creationId xmlns:a16="http://schemas.microsoft.com/office/drawing/2014/main" id="{C0DCBFBE-BDEC-481F-6A44-F6C2D9D305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DCB82F0-0F0E-0F3E-0187-20F4EEFD1F52}"/>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1669201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ACDC-D792-F80A-8DEC-7AE7976CD71D}"/>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39A2FF01-49C2-357D-73A9-7B1B043E58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32B4588-FFAE-D787-AC35-D2071893EE3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4F73022-9281-1B94-D87F-A9C69A519B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070CAFA-4959-7409-034E-D21C9C1CDB6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7B4CAFD-57C7-3058-03F2-83A2CBCA30DB}"/>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8" name="Footer Placeholder 7">
            <a:extLst>
              <a:ext uri="{FF2B5EF4-FFF2-40B4-BE49-F238E27FC236}">
                <a16:creationId xmlns:a16="http://schemas.microsoft.com/office/drawing/2014/main" id="{716B7CF9-7623-856B-FED1-B59E06709C5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D3989B4-81EC-F9BC-1B1F-72806D4CC605}"/>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3274558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2CDDC-6D00-0860-99AB-7CFE7704897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7B6EC9FF-CEA4-08C0-0C76-7747A1CDCD9B}"/>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4" name="Footer Placeholder 3">
            <a:extLst>
              <a:ext uri="{FF2B5EF4-FFF2-40B4-BE49-F238E27FC236}">
                <a16:creationId xmlns:a16="http://schemas.microsoft.com/office/drawing/2014/main" id="{13D1BEC4-B829-8F8C-6B64-EA7A0928A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1744E09-386F-235E-82A1-9F6D79FDD21E}"/>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2759243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90BE99-67DF-9DF4-C5C1-AC929E6508F3}"/>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3" name="Footer Placeholder 2">
            <a:extLst>
              <a:ext uri="{FF2B5EF4-FFF2-40B4-BE49-F238E27FC236}">
                <a16:creationId xmlns:a16="http://schemas.microsoft.com/office/drawing/2014/main" id="{4C6A474A-DE01-22C2-2935-479F88280F0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C012AAE-10E9-7AC3-AB7C-DA72D40D0D8B}"/>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1134362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E62CC-07CC-CB6A-D8CC-9CC2D74759A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2FEEC34-F64A-4DCF-1D3B-3F10056F5A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21884EC-B345-13FC-7188-43D9B3ECEA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5CB802C-49C2-7BA0-09D2-2D7E913358C0}"/>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6" name="Footer Placeholder 5">
            <a:extLst>
              <a:ext uri="{FF2B5EF4-FFF2-40B4-BE49-F238E27FC236}">
                <a16:creationId xmlns:a16="http://schemas.microsoft.com/office/drawing/2014/main" id="{00766EE5-472F-9EE2-88B7-37685C3A53F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158DFA-A87F-7D76-59CC-CDFAE6EC4A85}"/>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2488977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7B68-109A-69F4-4689-8D0A91DAD0C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2D79887-777D-844E-87A1-94FD38ACE2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37F1D61-B83A-947B-8EA0-0D2A33C0F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7B9B668-81AC-9C27-D2C8-98F33BE59DB2}"/>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6" name="Footer Placeholder 5">
            <a:extLst>
              <a:ext uri="{FF2B5EF4-FFF2-40B4-BE49-F238E27FC236}">
                <a16:creationId xmlns:a16="http://schemas.microsoft.com/office/drawing/2014/main" id="{7FC363C0-BF0D-4D77-18DF-1B8233500F4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A2CC35E-1A08-7207-A605-EF669D9EFC87}"/>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1779435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7AA1-CEC3-2D6E-BCA8-2F39FD65A89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120E3F2A-A858-CC9E-5E3A-37540B25DF7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CBACE8F-1D7C-8ACD-CFA7-E785F74BF7DC}"/>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5" name="Footer Placeholder 4">
            <a:extLst>
              <a:ext uri="{FF2B5EF4-FFF2-40B4-BE49-F238E27FC236}">
                <a16:creationId xmlns:a16="http://schemas.microsoft.com/office/drawing/2014/main" id="{7428ABE7-E1EF-86BC-2297-1E620DD276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97A6CF3-78B2-95C6-949C-294AD9F2BA7A}"/>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3365394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81B590-13BA-3A99-F458-0CE5716FDED4}"/>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078424AF-431F-A031-C326-8643AE86373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7853D9F-2B60-1BA9-28CD-ADA720929FA8}"/>
              </a:ext>
            </a:extLst>
          </p:cNvPr>
          <p:cNvSpPr>
            <a:spLocks noGrp="1"/>
          </p:cNvSpPr>
          <p:nvPr>
            <p:ph type="dt" sz="half" idx="10"/>
          </p:nvPr>
        </p:nvSpPr>
        <p:spPr/>
        <p:txBody>
          <a:bodyPr/>
          <a:lstStyle/>
          <a:p>
            <a:fld id="{6BDC0037-11C6-4E09-80EE-DE24BEAFCA95}" type="datetimeFigureOut">
              <a:rPr lang="en-GB" smtClean="0"/>
              <a:t>23/10/2024</a:t>
            </a:fld>
            <a:endParaRPr lang="en-GB"/>
          </a:p>
        </p:txBody>
      </p:sp>
      <p:sp>
        <p:nvSpPr>
          <p:cNvPr id="5" name="Footer Placeholder 4">
            <a:extLst>
              <a:ext uri="{FF2B5EF4-FFF2-40B4-BE49-F238E27FC236}">
                <a16:creationId xmlns:a16="http://schemas.microsoft.com/office/drawing/2014/main" id="{D9655E32-0EBE-0F02-2D4A-5E31D40DF6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839956-7DFD-42DE-CBE3-36053E008366}"/>
              </a:ext>
            </a:extLst>
          </p:cNvPr>
          <p:cNvSpPr>
            <a:spLocks noGrp="1"/>
          </p:cNvSpPr>
          <p:nvPr>
            <p:ph type="sldNum" sz="quarter" idx="12"/>
          </p:nvPr>
        </p:nvSpPr>
        <p:spPr/>
        <p:txBody>
          <a:bodyPr/>
          <a:lstStyle/>
          <a:p>
            <a:fld id="{7AEAF107-03B8-45C9-AE95-18F9C0DCAB26}" type="slidenum">
              <a:rPr lang="en-GB" smtClean="0"/>
              <a:t>‹#›</a:t>
            </a:fld>
            <a:endParaRPr lang="en-GB"/>
          </a:p>
        </p:txBody>
      </p:sp>
    </p:spTree>
    <p:extLst>
      <p:ext uri="{BB962C8B-B14F-4D97-AF65-F5344CB8AC3E}">
        <p14:creationId xmlns:p14="http://schemas.microsoft.com/office/powerpoint/2010/main" val="1156620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AAB522-3ED2-45F3-2B03-E3C77B275A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BBD3E55A-0069-5E81-1822-534E1909CD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AF10729-BC56-241E-714C-6537946C4E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DC0037-11C6-4E09-80EE-DE24BEAFCA95}" type="datetimeFigureOut">
              <a:rPr lang="en-GB" smtClean="0"/>
              <a:t>23/10/2024</a:t>
            </a:fld>
            <a:endParaRPr lang="en-GB"/>
          </a:p>
        </p:txBody>
      </p:sp>
      <p:sp>
        <p:nvSpPr>
          <p:cNvPr id="5" name="Footer Placeholder 4">
            <a:extLst>
              <a:ext uri="{FF2B5EF4-FFF2-40B4-BE49-F238E27FC236}">
                <a16:creationId xmlns:a16="http://schemas.microsoft.com/office/drawing/2014/main" id="{07040EB8-DC76-2F0A-1A78-D22E3E23F8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DB57BA1-6392-C63F-9FE9-188615DB52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EAF107-03B8-45C9-AE95-18F9C0DCAB26}" type="slidenum">
              <a:rPr lang="en-GB" smtClean="0"/>
              <a:t>‹#›</a:t>
            </a:fld>
            <a:endParaRPr lang="en-GB"/>
          </a:p>
        </p:txBody>
      </p:sp>
    </p:spTree>
    <p:extLst>
      <p:ext uri="{BB962C8B-B14F-4D97-AF65-F5344CB8AC3E}">
        <p14:creationId xmlns:p14="http://schemas.microsoft.com/office/powerpoint/2010/main" val="2285213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05E41-60FC-0D07-9828-B82231929F47}"/>
              </a:ext>
            </a:extLst>
          </p:cNvPr>
          <p:cNvSpPr>
            <a:spLocks noGrp="1"/>
          </p:cNvSpPr>
          <p:nvPr>
            <p:ph type="ctrTitle"/>
          </p:nvPr>
        </p:nvSpPr>
        <p:spPr/>
        <p:txBody>
          <a:bodyPr/>
          <a:lstStyle/>
          <a:p>
            <a:r>
              <a:rPr lang="en-GB" dirty="0"/>
              <a:t>COM521 Ethical Hacking and Pen testing – </a:t>
            </a:r>
            <a:r>
              <a:rPr lang="en-GB" dirty="0" err="1"/>
              <a:t>iLabs</a:t>
            </a:r>
            <a:endParaRPr lang="en-GB" dirty="0"/>
          </a:p>
        </p:txBody>
      </p:sp>
      <p:sp>
        <p:nvSpPr>
          <p:cNvPr id="3" name="Subtitle 2">
            <a:extLst>
              <a:ext uri="{FF2B5EF4-FFF2-40B4-BE49-F238E27FC236}">
                <a16:creationId xmlns:a16="http://schemas.microsoft.com/office/drawing/2014/main" id="{E593C766-740B-3307-69A8-D0AE583B9743}"/>
              </a:ext>
            </a:extLst>
          </p:cNvPr>
          <p:cNvSpPr>
            <a:spLocks noGrp="1"/>
          </p:cNvSpPr>
          <p:nvPr>
            <p:ph type="subTitle" idx="1"/>
          </p:nvPr>
        </p:nvSpPr>
        <p:spPr/>
        <p:txBody>
          <a:bodyPr/>
          <a:lstStyle/>
          <a:p>
            <a:r>
              <a:rPr lang="en-GB" dirty="0"/>
              <a:t>CEH v12  </a:t>
            </a:r>
            <a:r>
              <a:rPr lang="en-GB" b="0" i="0" dirty="0">
                <a:solidFill>
                  <a:srgbClr val="000000"/>
                </a:solidFill>
                <a:effectLst/>
                <a:latin typeface="Segoe UI" panose="020B0502040204020203" pitchFamily="34" charset="0"/>
              </a:rPr>
              <a:t>Module 12: Evading IDS, Firewalls, and Honeypots</a:t>
            </a:r>
          </a:p>
          <a:p>
            <a:endParaRPr lang="en-GB" dirty="0"/>
          </a:p>
        </p:txBody>
      </p:sp>
    </p:spTree>
    <p:extLst>
      <p:ext uri="{BB962C8B-B14F-4D97-AF65-F5344CB8AC3E}">
        <p14:creationId xmlns:p14="http://schemas.microsoft.com/office/powerpoint/2010/main" val="2187561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92D2-C7E7-FD27-FCE7-8C2B634D4FB5}"/>
              </a:ext>
            </a:extLst>
          </p:cNvPr>
          <p:cNvSpPr>
            <a:spLocks noGrp="1"/>
          </p:cNvSpPr>
          <p:nvPr>
            <p:ph type="title"/>
          </p:nvPr>
        </p:nvSpPr>
        <p:spPr>
          <a:xfrm>
            <a:off x="838200" y="365126"/>
            <a:ext cx="10515600" cy="1278618"/>
          </a:xfrm>
        </p:spPr>
        <p:txBody>
          <a:bodyPr>
            <a:normAutofit fontScale="90000"/>
          </a:bodyPr>
          <a:lstStyle/>
          <a:p>
            <a:r>
              <a:rPr lang="en-GB" b="0" i="0" dirty="0">
                <a:solidFill>
                  <a:srgbClr val="000000"/>
                </a:solidFill>
                <a:effectLst/>
                <a:latin typeface="Segoe UI" panose="020B0502040204020203" pitchFamily="34" charset="0"/>
              </a:rPr>
              <a:t>Lab 1: Perform Intrusion Detection using Various Tools</a:t>
            </a:r>
            <a:br>
              <a:rPr lang="en-GB" b="0" i="0" dirty="0">
                <a:solidFill>
                  <a:srgbClr val="000000"/>
                </a:solidFill>
                <a:effectLst/>
                <a:latin typeface="Segoe UI" panose="020B0502040204020203" pitchFamily="34" charset="0"/>
              </a:rPr>
            </a:br>
            <a:endParaRPr lang="en-GB" dirty="0"/>
          </a:p>
        </p:txBody>
      </p:sp>
      <p:sp>
        <p:nvSpPr>
          <p:cNvPr id="3" name="Content Placeholder 2">
            <a:extLst>
              <a:ext uri="{FF2B5EF4-FFF2-40B4-BE49-F238E27FC236}">
                <a16:creationId xmlns:a16="http://schemas.microsoft.com/office/drawing/2014/main" id="{64615041-4810-8945-79C8-34BF1DD652CD}"/>
              </a:ext>
            </a:extLst>
          </p:cNvPr>
          <p:cNvSpPr>
            <a:spLocks noGrp="1"/>
          </p:cNvSpPr>
          <p:nvPr>
            <p:ph idx="1"/>
          </p:nvPr>
        </p:nvSpPr>
        <p:spPr/>
        <p:txBody>
          <a:bodyPr/>
          <a:lstStyle/>
          <a:p>
            <a:pPr algn="l"/>
            <a:r>
              <a:rPr lang="en-GB" b="1" i="0" dirty="0">
                <a:solidFill>
                  <a:srgbClr val="000000"/>
                </a:solidFill>
                <a:effectLst/>
                <a:latin typeface="Segoe UI" panose="020B0502040204020203" pitchFamily="34" charset="0"/>
              </a:rPr>
              <a:t>Lab Objectives</a:t>
            </a:r>
            <a:endParaRPr lang="en-GB" b="0" i="0" dirty="0">
              <a:solidFill>
                <a:srgbClr val="000000"/>
              </a:solidFill>
              <a:effectLst/>
              <a:latin typeface="Segoe UI" panose="020B0502040204020203" pitchFamily="34" charset="0"/>
            </a:endParaRPr>
          </a:p>
          <a:p>
            <a:pPr algn="l">
              <a:buFont typeface="Arial" panose="020B0604020202020204" pitchFamily="34" charset="0"/>
              <a:buChar char="•"/>
            </a:pPr>
            <a:r>
              <a:rPr lang="en-GB" b="0" i="0" dirty="0">
                <a:solidFill>
                  <a:srgbClr val="000000"/>
                </a:solidFill>
                <a:effectLst/>
                <a:latin typeface="Segoe UI" panose="020B0502040204020203" pitchFamily="34" charset="0"/>
              </a:rPr>
              <a:t>Detect intrusions using Snort</a:t>
            </a:r>
          </a:p>
          <a:p>
            <a:pPr algn="l">
              <a:buFont typeface="Arial" panose="020B0604020202020204" pitchFamily="34" charset="0"/>
              <a:buChar char="•"/>
            </a:pPr>
            <a:r>
              <a:rPr lang="en-GB" b="0" i="0" dirty="0">
                <a:solidFill>
                  <a:srgbClr val="000000"/>
                </a:solidFill>
                <a:effectLst/>
                <a:latin typeface="Segoe UI" panose="020B0502040204020203" pitchFamily="34" charset="0"/>
              </a:rPr>
              <a:t>Detect malicious network traffic using </a:t>
            </a:r>
            <a:r>
              <a:rPr lang="en-GB" b="0" i="0" dirty="0" err="1">
                <a:solidFill>
                  <a:srgbClr val="000000"/>
                </a:solidFill>
                <a:effectLst/>
                <a:latin typeface="Segoe UI" panose="020B0502040204020203" pitchFamily="34" charset="0"/>
              </a:rPr>
              <a:t>ZoneAlarm</a:t>
            </a:r>
            <a:r>
              <a:rPr lang="en-GB" b="0" i="0" dirty="0">
                <a:solidFill>
                  <a:srgbClr val="000000"/>
                </a:solidFill>
                <a:effectLst/>
                <a:latin typeface="Segoe UI" panose="020B0502040204020203" pitchFamily="34" charset="0"/>
              </a:rPr>
              <a:t> FREE FIREWALL</a:t>
            </a:r>
          </a:p>
          <a:p>
            <a:pPr algn="l">
              <a:buFont typeface="Arial" panose="020B0604020202020204" pitchFamily="34" charset="0"/>
              <a:buChar char="•"/>
            </a:pPr>
            <a:r>
              <a:rPr lang="en-GB" b="0" i="0" dirty="0">
                <a:solidFill>
                  <a:srgbClr val="000000"/>
                </a:solidFill>
                <a:effectLst/>
                <a:latin typeface="Segoe UI" panose="020B0502040204020203" pitchFamily="34" charset="0"/>
              </a:rPr>
              <a:t>Detect malicious network traffic using </a:t>
            </a:r>
            <a:r>
              <a:rPr lang="en-GB" b="0" i="0" dirty="0" err="1">
                <a:solidFill>
                  <a:srgbClr val="000000"/>
                </a:solidFill>
                <a:effectLst/>
                <a:latin typeface="Segoe UI" panose="020B0502040204020203" pitchFamily="34" charset="0"/>
              </a:rPr>
              <a:t>HoneyBOT</a:t>
            </a:r>
            <a:endParaRPr lang="en-GB" b="0" i="0" dirty="0">
              <a:solidFill>
                <a:srgbClr val="000000"/>
              </a:solidFill>
              <a:effectLst/>
              <a:latin typeface="Segoe UI" panose="020B0502040204020203" pitchFamily="34" charset="0"/>
            </a:endParaRPr>
          </a:p>
          <a:p>
            <a:endParaRPr lang="en-GB" dirty="0"/>
          </a:p>
        </p:txBody>
      </p:sp>
    </p:spTree>
    <p:extLst>
      <p:ext uri="{BB962C8B-B14F-4D97-AF65-F5344CB8AC3E}">
        <p14:creationId xmlns:p14="http://schemas.microsoft.com/office/powerpoint/2010/main" val="2791520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A1280-523C-422E-614D-FB22EEC0A60C}"/>
              </a:ext>
            </a:extLst>
          </p:cNvPr>
          <p:cNvSpPr>
            <a:spLocks noGrp="1"/>
          </p:cNvSpPr>
          <p:nvPr>
            <p:ph type="title"/>
          </p:nvPr>
        </p:nvSpPr>
        <p:spPr/>
        <p:txBody>
          <a:bodyPr/>
          <a:lstStyle/>
          <a:p>
            <a:r>
              <a:rPr lang="en-GB" dirty="0"/>
              <a:t>SNORT</a:t>
            </a:r>
          </a:p>
        </p:txBody>
      </p:sp>
      <p:pic>
        <p:nvPicPr>
          <p:cNvPr id="6" name="Content Placeholder 5">
            <a:extLst>
              <a:ext uri="{FF2B5EF4-FFF2-40B4-BE49-F238E27FC236}">
                <a16:creationId xmlns:a16="http://schemas.microsoft.com/office/drawing/2014/main" id="{655794FA-B331-E33D-7AD1-23F6FAAA4410}"/>
              </a:ext>
            </a:extLst>
          </p:cNvPr>
          <p:cNvPicPr>
            <a:picLocks noGrp="1" noChangeAspect="1"/>
          </p:cNvPicPr>
          <p:nvPr>
            <p:ph idx="1"/>
          </p:nvPr>
        </p:nvPicPr>
        <p:blipFill>
          <a:blip r:embed="rId3"/>
          <a:stretch>
            <a:fillRect/>
          </a:stretch>
        </p:blipFill>
        <p:spPr>
          <a:xfrm>
            <a:off x="4844846" y="653144"/>
            <a:ext cx="5837566" cy="4723820"/>
          </a:xfrm>
        </p:spPr>
      </p:pic>
      <p:sp>
        <p:nvSpPr>
          <p:cNvPr id="4" name="Text Placeholder 3">
            <a:extLst>
              <a:ext uri="{FF2B5EF4-FFF2-40B4-BE49-F238E27FC236}">
                <a16:creationId xmlns:a16="http://schemas.microsoft.com/office/drawing/2014/main" id="{778BA7FC-6770-A0B1-71C4-A96C01AC17CF}"/>
              </a:ext>
            </a:extLst>
          </p:cNvPr>
          <p:cNvSpPr>
            <a:spLocks noGrp="1"/>
          </p:cNvSpPr>
          <p:nvPr>
            <p:ph type="body" sz="half" idx="2"/>
          </p:nvPr>
        </p:nvSpPr>
        <p:spPr/>
        <p:txBody>
          <a:bodyPr/>
          <a:lstStyle/>
          <a:p>
            <a:pPr algn="l"/>
            <a:r>
              <a:rPr lang="en-GB" b="0" i="0" dirty="0">
                <a:solidFill>
                  <a:srgbClr val="000000"/>
                </a:solidFill>
                <a:effectLst/>
                <a:latin typeface="Segoe UI" panose="020B0502040204020203" pitchFamily="34" charset="0"/>
              </a:rPr>
              <a:t>Uses of Snort:</a:t>
            </a:r>
          </a:p>
          <a:p>
            <a:pPr algn="l"/>
            <a:r>
              <a:rPr lang="en-GB" b="0" i="0" dirty="0">
                <a:solidFill>
                  <a:srgbClr val="000000"/>
                </a:solidFill>
                <a:effectLst/>
                <a:latin typeface="Segoe UI" panose="020B0502040204020203" pitchFamily="34" charset="0"/>
              </a:rPr>
              <a:t>Snort is an open-source network intrusion detection system</a:t>
            </a:r>
          </a:p>
          <a:p>
            <a:pPr algn="l">
              <a:buFont typeface="Arial" panose="020B0604020202020204" pitchFamily="34" charset="0"/>
              <a:buChar char="•"/>
            </a:pPr>
            <a:r>
              <a:rPr lang="en-GB" b="0" i="0" dirty="0">
                <a:solidFill>
                  <a:srgbClr val="000000"/>
                </a:solidFill>
                <a:effectLst/>
                <a:latin typeface="Segoe UI" panose="020B0502040204020203" pitchFamily="34" charset="0"/>
              </a:rPr>
              <a:t>Straight packet sniffer such as </a:t>
            </a:r>
            <a:r>
              <a:rPr lang="en-GB" b="0" i="0" dirty="0" err="1">
                <a:solidFill>
                  <a:srgbClr val="000000"/>
                </a:solidFill>
                <a:effectLst/>
                <a:latin typeface="Segoe UI" panose="020B0502040204020203" pitchFamily="34" charset="0"/>
              </a:rPr>
              <a:t>tcpdump</a:t>
            </a:r>
            <a:endParaRPr lang="en-GB" b="0" i="0" dirty="0">
              <a:solidFill>
                <a:srgbClr val="000000"/>
              </a:solidFill>
              <a:effectLst/>
              <a:latin typeface="Segoe UI" panose="020B0502040204020203" pitchFamily="34" charset="0"/>
            </a:endParaRPr>
          </a:p>
          <a:p>
            <a:pPr algn="l">
              <a:buFont typeface="Arial" panose="020B0604020202020204" pitchFamily="34" charset="0"/>
              <a:buChar char="•"/>
            </a:pPr>
            <a:r>
              <a:rPr lang="en-GB" b="0" i="0" dirty="0">
                <a:solidFill>
                  <a:srgbClr val="000000"/>
                </a:solidFill>
                <a:effectLst/>
                <a:latin typeface="Segoe UI" panose="020B0502040204020203" pitchFamily="34" charset="0"/>
              </a:rPr>
              <a:t>Packet logger (useful for network traffic debugging, etc.)</a:t>
            </a:r>
          </a:p>
          <a:p>
            <a:pPr algn="l">
              <a:buFont typeface="Arial" panose="020B0604020202020204" pitchFamily="34" charset="0"/>
              <a:buChar char="•"/>
            </a:pPr>
            <a:r>
              <a:rPr lang="en-GB" b="0" i="0" dirty="0">
                <a:solidFill>
                  <a:srgbClr val="000000"/>
                </a:solidFill>
                <a:effectLst/>
                <a:latin typeface="Segoe UI" panose="020B0502040204020203" pitchFamily="34" charset="0"/>
              </a:rPr>
              <a:t>Network intrusion prevention system</a:t>
            </a:r>
          </a:p>
          <a:p>
            <a:endParaRPr lang="en-GB" dirty="0"/>
          </a:p>
        </p:txBody>
      </p:sp>
    </p:spTree>
    <p:extLst>
      <p:ext uri="{BB962C8B-B14F-4D97-AF65-F5344CB8AC3E}">
        <p14:creationId xmlns:p14="http://schemas.microsoft.com/office/powerpoint/2010/main" val="2387704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F289F-9154-166D-D13C-963EF0A3AB06}"/>
              </a:ext>
            </a:extLst>
          </p:cNvPr>
          <p:cNvSpPr>
            <a:spLocks noGrp="1"/>
          </p:cNvSpPr>
          <p:nvPr>
            <p:ph type="title"/>
          </p:nvPr>
        </p:nvSpPr>
        <p:spPr/>
        <p:txBody>
          <a:bodyPr/>
          <a:lstStyle/>
          <a:p>
            <a:r>
              <a:rPr lang="en-GB" dirty="0"/>
              <a:t>Tasks</a:t>
            </a:r>
          </a:p>
        </p:txBody>
      </p:sp>
      <p:sp>
        <p:nvSpPr>
          <p:cNvPr id="3" name="Content Placeholder 2">
            <a:extLst>
              <a:ext uri="{FF2B5EF4-FFF2-40B4-BE49-F238E27FC236}">
                <a16:creationId xmlns:a16="http://schemas.microsoft.com/office/drawing/2014/main" id="{BA7D53AA-5E80-9FF3-DFD3-05F0E2676998}"/>
              </a:ext>
            </a:extLst>
          </p:cNvPr>
          <p:cNvSpPr>
            <a:spLocks noGrp="1"/>
          </p:cNvSpPr>
          <p:nvPr>
            <p:ph idx="1"/>
          </p:nvPr>
        </p:nvSpPr>
        <p:spPr/>
        <p:txBody>
          <a:bodyPr/>
          <a:lstStyle/>
          <a:p>
            <a:r>
              <a:rPr lang="en-GB" dirty="0"/>
              <a:t>Install Snort</a:t>
            </a:r>
          </a:p>
          <a:p>
            <a:r>
              <a:rPr lang="en-GB" b="0" i="0" dirty="0">
                <a:solidFill>
                  <a:srgbClr val="000000"/>
                </a:solidFill>
                <a:effectLst/>
                <a:latin typeface="Segoe UI" panose="020B0502040204020203" pitchFamily="34" charset="0"/>
              </a:rPr>
              <a:t>Copy the </a:t>
            </a:r>
            <a:r>
              <a:rPr lang="en-GB" b="1" i="0" dirty="0" err="1">
                <a:solidFill>
                  <a:srgbClr val="000000"/>
                </a:solidFill>
                <a:effectLst/>
                <a:latin typeface="Segoe UI" panose="020B0502040204020203" pitchFamily="34" charset="0"/>
              </a:rPr>
              <a:t>so_rules</a:t>
            </a:r>
            <a:r>
              <a:rPr lang="en-GB" b="0" i="0" dirty="0">
                <a:solidFill>
                  <a:srgbClr val="000000"/>
                </a:solidFill>
                <a:effectLst/>
                <a:latin typeface="Segoe UI" panose="020B0502040204020203" pitchFamily="34" charset="0"/>
              </a:rPr>
              <a:t> folder in the SNORT folder</a:t>
            </a:r>
          </a:p>
          <a:p>
            <a:r>
              <a:rPr lang="en-GB" b="0" i="0" dirty="0">
                <a:solidFill>
                  <a:srgbClr val="000000"/>
                </a:solidFill>
                <a:effectLst/>
                <a:latin typeface="Segoe UI" panose="020B0502040204020203" pitchFamily="34" charset="0"/>
              </a:rPr>
              <a:t>Copy the </a:t>
            </a:r>
            <a:r>
              <a:rPr lang="en-GB" b="0" i="0" dirty="0" err="1">
                <a:solidFill>
                  <a:srgbClr val="000000"/>
                </a:solidFill>
                <a:effectLst/>
                <a:latin typeface="Segoe UI" panose="020B0502040204020203" pitchFamily="34" charset="0"/>
              </a:rPr>
              <a:t>preproc_rules</a:t>
            </a:r>
            <a:r>
              <a:rPr lang="en-GB" b="0" i="0" dirty="0">
                <a:solidFill>
                  <a:srgbClr val="000000"/>
                </a:solidFill>
                <a:effectLst/>
                <a:latin typeface="Segoe UI" panose="020B0502040204020203" pitchFamily="34" charset="0"/>
              </a:rPr>
              <a:t> folder into SNORT Folder</a:t>
            </a:r>
          </a:p>
          <a:p>
            <a:r>
              <a:rPr lang="en-GB" dirty="0">
                <a:solidFill>
                  <a:srgbClr val="000000"/>
                </a:solidFill>
                <a:latin typeface="Segoe UI" panose="020B0502040204020203" pitchFamily="34" charset="0"/>
              </a:rPr>
              <a:t>Run SNORT </a:t>
            </a:r>
          </a:p>
          <a:p>
            <a:r>
              <a:rPr lang="en-GB" b="1" i="0" dirty="0">
                <a:solidFill>
                  <a:srgbClr val="000000"/>
                </a:solidFill>
                <a:effectLst/>
                <a:latin typeface="Segoe UI" panose="020B0502040204020203" pitchFamily="34" charset="0"/>
              </a:rPr>
              <a:t>snort -W</a:t>
            </a:r>
            <a:r>
              <a:rPr lang="en-GB" b="0" i="0" dirty="0">
                <a:solidFill>
                  <a:srgbClr val="000000"/>
                </a:solidFill>
                <a:effectLst/>
                <a:latin typeface="Segoe UI" panose="020B0502040204020203" pitchFamily="34" charset="0"/>
              </a:rPr>
              <a:t>. This command lists your machine’s physical address, IP address, and Ethernet Drivers,</a:t>
            </a:r>
          </a:p>
          <a:p>
            <a:r>
              <a:rPr lang="en-GB" b="0" i="0" dirty="0">
                <a:solidFill>
                  <a:srgbClr val="000000"/>
                </a:solidFill>
                <a:effectLst/>
                <a:latin typeface="Segoe UI" panose="020B0502040204020203" pitchFamily="34" charset="0"/>
              </a:rPr>
              <a:t> enable the Ethernet Driver, in the command prompt, type </a:t>
            </a:r>
            <a:r>
              <a:rPr lang="en-GB" b="1" i="0" dirty="0">
                <a:solidFill>
                  <a:srgbClr val="000000"/>
                </a:solidFill>
                <a:effectLst/>
                <a:latin typeface="Segoe UI" panose="020B0502040204020203" pitchFamily="34" charset="0"/>
              </a:rPr>
              <a:t>snort -dev -</a:t>
            </a:r>
            <a:r>
              <a:rPr lang="en-GB" b="1" i="0" dirty="0" err="1">
                <a:solidFill>
                  <a:srgbClr val="000000"/>
                </a:solidFill>
                <a:effectLst/>
                <a:latin typeface="Segoe UI" panose="020B0502040204020203" pitchFamily="34" charset="0"/>
              </a:rPr>
              <a:t>i</a:t>
            </a:r>
            <a:r>
              <a:rPr lang="en-GB" b="1" i="0" dirty="0">
                <a:solidFill>
                  <a:srgbClr val="000000"/>
                </a:solidFill>
                <a:effectLst/>
                <a:latin typeface="Segoe UI" panose="020B0502040204020203" pitchFamily="34" charset="0"/>
              </a:rPr>
              <a:t> 1</a:t>
            </a:r>
            <a:endParaRPr lang="en-GB" b="0" i="0" dirty="0">
              <a:solidFill>
                <a:srgbClr val="000000"/>
              </a:solidFill>
              <a:effectLst/>
              <a:latin typeface="Segoe UI" panose="020B0502040204020203" pitchFamily="34" charset="0"/>
            </a:endParaRPr>
          </a:p>
          <a:p>
            <a:endParaRPr lang="en-GB"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024920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01690-B98B-2099-47C5-6B224AEB16D0}"/>
              </a:ext>
            </a:extLst>
          </p:cNvPr>
          <p:cNvSpPr>
            <a:spLocks noGrp="1"/>
          </p:cNvSpPr>
          <p:nvPr>
            <p:ph type="title"/>
          </p:nvPr>
        </p:nvSpPr>
        <p:spPr/>
        <p:txBody>
          <a:bodyPr/>
          <a:lstStyle/>
          <a:p>
            <a:r>
              <a:rPr lang="en-GB" dirty="0"/>
              <a:t>Snort Network Capture</a:t>
            </a:r>
          </a:p>
        </p:txBody>
      </p:sp>
      <p:sp>
        <p:nvSpPr>
          <p:cNvPr id="4" name="Text Placeholder 3">
            <a:extLst>
              <a:ext uri="{FF2B5EF4-FFF2-40B4-BE49-F238E27FC236}">
                <a16:creationId xmlns:a16="http://schemas.microsoft.com/office/drawing/2014/main" id="{ED7F0C9C-8435-79BE-9DD1-0AE67C36616F}"/>
              </a:ext>
            </a:extLst>
          </p:cNvPr>
          <p:cNvSpPr>
            <a:spLocks noGrp="1"/>
          </p:cNvSpPr>
          <p:nvPr>
            <p:ph type="body" sz="half" idx="2"/>
          </p:nvPr>
        </p:nvSpPr>
        <p:spPr/>
        <p:txBody>
          <a:bodyPr/>
          <a:lstStyle/>
          <a:p>
            <a:r>
              <a:rPr lang="en-GB" b="0" i="0" dirty="0" err="1">
                <a:solidFill>
                  <a:srgbClr val="000000"/>
                </a:solidFill>
                <a:effectLst/>
                <a:latin typeface="Segoe UI" panose="020B0502040204020203" pitchFamily="34" charset="0"/>
              </a:rPr>
              <a:t>ou</a:t>
            </a:r>
            <a:r>
              <a:rPr lang="en-GB" b="0" i="0" dirty="0">
                <a:solidFill>
                  <a:srgbClr val="000000"/>
                </a:solidFill>
                <a:effectLst/>
                <a:latin typeface="Segoe UI" panose="020B0502040204020203" pitchFamily="34" charset="0"/>
              </a:rPr>
              <a:t> see a rapid scroll text in the command prompt, which means that the Ethernet Driver is enabled and working properly</a:t>
            </a:r>
          </a:p>
          <a:p>
            <a:endParaRPr lang="en-GB" dirty="0">
              <a:solidFill>
                <a:srgbClr val="000000"/>
              </a:solidFill>
              <a:latin typeface="Segoe UI" panose="020B0502040204020203" pitchFamily="34" charset="0"/>
            </a:endParaRPr>
          </a:p>
          <a:p>
            <a:r>
              <a:rPr lang="en-GB" b="0" i="0" dirty="0">
                <a:solidFill>
                  <a:srgbClr val="000000"/>
                </a:solidFill>
                <a:effectLst/>
                <a:latin typeface="Segoe UI" panose="020B0502040204020203" pitchFamily="34" charset="0"/>
              </a:rPr>
              <a:t> type </a:t>
            </a:r>
            <a:r>
              <a:rPr lang="en-GB" b="1" i="0" dirty="0">
                <a:solidFill>
                  <a:srgbClr val="000000"/>
                </a:solidFill>
                <a:effectLst/>
                <a:latin typeface="Segoe UI" panose="020B0502040204020203" pitchFamily="34" charset="0"/>
              </a:rPr>
              <a:t>ping google.com</a:t>
            </a:r>
          </a:p>
          <a:p>
            <a:r>
              <a:rPr lang="en-GB" b="0" i="0" dirty="0">
                <a:solidFill>
                  <a:srgbClr val="000000"/>
                </a:solidFill>
                <a:effectLst/>
                <a:latin typeface="Segoe UI" panose="020B0502040204020203" pitchFamily="34" charset="0"/>
              </a:rPr>
              <a:t>This ping command triggers a Snort alert in the Snort command prompt with rapid scrolling text..</a:t>
            </a:r>
            <a:endParaRPr lang="en-GB" dirty="0"/>
          </a:p>
        </p:txBody>
      </p:sp>
      <p:pic>
        <p:nvPicPr>
          <p:cNvPr id="2050" name="Picture 2" descr="Screenshot">
            <a:extLst>
              <a:ext uri="{FF2B5EF4-FFF2-40B4-BE49-F238E27FC236}">
                <a16:creationId xmlns:a16="http://schemas.microsoft.com/office/drawing/2014/main" id="{E6FEB55C-CC10-A25B-0216-540F4A3DE5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83187" y="809469"/>
            <a:ext cx="6572457" cy="4929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6292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6077-A13D-BCE8-A88E-AFA0F600BFF3}"/>
              </a:ext>
            </a:extLst>
          </p:cNvPr>
          <p:cNvSpPr>
            <a:spLocks noGrp="1"/>
          </p:cNvSpPr>
          <p:nvPr>
            <p:ph type="title"/>
          </p:nvPr>
        </p:nvSpPr>
        <p:spPr/>
        <p:txBody>
          <a:bodyPr/>
          <a:lstStyle/>
          <a:p>
            <a:r>
              <a:rPr lang="en-GB" dirty="0"/>
              <a:t>Tasks (Continued)</a:t>
            </a:r>
          </a:p>
        </p:txBody>
      </p:sp>
      <p:sp>
        <p:nvSpPr>
          <p:cNvPr id="3" name="Content Placeholder 2">
            <a:extLst>
              <a:ext uri="{FF2B5EF4-FFF2-40B4-BE49-F238E27FC236}">
                <a16:creationId xmlns:a16="http://schemas.microsoft.com/office/drawing/2014/main" id="{10ED3A58-0928-E1CF-B292-82B05AB37923}"/>
              </a:ext>
            </a:extLst>
          </p:cNvPr>
          <p:cNvSpPr>
            <a:spLocks noGrp="1"/>
          </p:cNvSpPr>
          <p:nvPr>
            <p:ph idx="1"/>
          </p:nvPr>
        </p:nvSpPr>
        <p:spPr/>
        <p:txBody>
          <a:bodyPr>
            <a:normAutofit lnSpcReduction="10000"/>
          </a:bodyPr>
          <a:lstStyle/>
          <a:p>
            <a:r>
              <a:rPr lang="en-GB" b="1" i="0" dirty="0" err="1">
                <a:solidFill>
                  <a:srgbClr val="000000"/>
                </a:solidFill>
                <a:effectLst/>
                <a:latin typeface="Segoe UI" panose="020B0502040204020203" pitchFamily="34" charset="0"/>
              </a:rPr>
              <a:t>white_list</a:t>
            </a:r>
            <a:r>
              <a:rPr lang="en-GB" b="0" i="0" dirty="0">
                <a:solidFill>
                  <a:srgbClr val="000000"/>
                </a:solidFill>
                <a:effectLst/>
                <a:latin typeface="Segoe UI" panose="020B0502040204020203" pitchFamily="34" charset="0"/>
              </a:rPr>
              <a:t> and </a:t>
            </a:r>
            <a:r>
              <a:rPr lang="en-GB" b="1" i="0" dirty="0" err="1">
                <a:solidFill>
                  <a:srgbClr val="000000"/>
                </a:solidFill>
                <a:effectLst/>
                <a:latin typeface="Segoe UI" panose="020B0502040204020203" pitchFamily="34" charset="0"/>
              </a:rPr>
              <a:t>black_list</a:t>
            </a:r>
            <a:r>
              <a:rPr lang="en-GB" b="0" i="0" dirty="0">
                <a:solidFill>
                  <a:srgbClr val="000000"/>
                </a:solidFill>
                <a:effectLst/>
                <a:latin typeface="Segoe UI" panose="020B0502040204020203" pitchFamily="34" charset="0"/>
              </a:rPr>
              <a:t> and change their file extensions from </a:t>
            </a:r>
            <a:r>
              <a:rPr lang="en-GB" b="1" i="0" dirty="0">
                <a:solidFill>
                  <a:srgbClr val="000000"/>
                </a:solidFill>
                <a:effectLst/>
                <a:latin typeface="Segoe UI" panose="020B0502040204020203" pitchFamily="34" charset="0"/>
              </a:rPr>
              <a:t>.txt</a:t>
            </a:r>
            <a:r>
              <a:rPr lang="en-GB" b="0" i="0" dirty="0">
                <a:solidFill>
                  <a:srgbClr val="000000"/>
                </a:solidFill>
                <a:effectLst/>
                <a:latin typeface="Segoe UI" panose="020B0502040204020203" pitchFamily="34" charset="0"/>
              </a:rPr>
              <a:t> to </a:t>
            </a:r>
            <a:r>
              <a:rPr lang="en-GB" b="1" i="0" dirty="0">
                <a:solidFill>
                  <a:srgbClr val="000000"/>
                </a:solidFill>
                <a:effectLst/>
                <a:latin typeface="Segoe UI" panose="020B0502040204020203" pitchFamily="34" charset="0"/>
              </a:rPr>
              <a:t>.rules</a:t>
            </a:r>
            <a:r>
              <a:rPr lang="en-GB" b="0" i="0" dirty="0">
                <a:solidFill>
                  <a:srgbClr val="000000"/>
                </a:solidFill>
                <a:effectLst/>
                <a:latin typeface="Segoe UI" panose="020B0502040204020203" pitchFamily="34" charset="0"/>
              </a:rPr>
              <a:t>.</a:t>
            </a:r>
            <a:endParaRPr lang="en-GB" dirty="0">
              <a:solidFill>
                <a:srgbClr val="000000"/>
              </a:solidFill>
              <a:latin typeface="Segoe UI" panose="020B0502040204020203" pitchFamily="34" charset="0"/>
            </a:endParaRPr>
          </a:p>
          <a:p>
            <a:r>
              <a:rPr lang="en-GB" dirty="0">
                <a:solidFill>
                  <a:srgbClr val="000000"/>
                </a:solidFill>
                <a:latin typeface="Segoe UI" panose="020B0502040204020203" pitchFamily="34" charset="0"/>
              </a:rPr>
              <a:t>Add an alert to the rules file </a:t>
            </a:r>
          </a:p>
          <a:p>
            <a:r>
              <a:rPr lang="en-GB" dirty="0">
                <a:solidFill>
                  <a:srgbClr val="000000"/>
                </a:solidFill>
                <a:latin typeface="Segoe UI" panose="020B0502040204020203" pitchFamily="34" charset="0"/>
              </a:rPr>
              <a:t>Run snort with the following command:</a:t>
            </a:r>
          </a:p>
          <a:p>
            <a:r>
              <a:rPr lang="en-GB" b="1" i="0" dirty="0">
                <a:solidFill>
                  <a:srgbClr val="000000"/>
                </a:solidFill>
                <a:effectLst/>
                <a:latin typeface="Segoe UI" panose="020B0502040204020203" pitchFamily="34" charset="0"/>
              </a:rPr>
              <a:t>snort -</a:t>
            </a:r>
            <a:r>
              <a:rPr lang="en-GB" b="1" i="0" dirty="0" err="1">
                <a:solidFill>
                  <a:srgbClr val="000000"/>
                </a:solidFill>
                <a:effectLst/>
                <a:latin typeface="Segoe UI" panose="020B0502040204020203" pitchFamily="34" charset="0"/>
              </a:rPr>
              <a:t>iX</a:t>
            </a:r>
            <a:r>
              <a:rPr lang="en-GB" b="1" i="0" dirty="0">
                <a:solidFill>
                  <a:srgbClr val="000000"/>
                </a:solidFill>
                <a:effectLst/>
                <a:latin typeface="Segoe UI" panose="020B0502040204020203" pitchFamily="34" charset="0"/>
              </a:rPr>
              <a:t> -A console -c C:\Snort\etc\snort.conf -l C:\Snort\log -K </a:t>
            </a:r>
            <a:r>
              <a:rPr lang="en-GB" b="1" i="0" dirty="0" err="1">
                <a:solidFill>
                  <a:srgbClr val="000000"/>
                </a:solidFill>
                <a:effectLst/>
                <a:latin typeface="Segoe UI" panose="020B0502040204020203" pitchFamily="34" charset="0"/>
              </a:rPr>
              <a:t>asc</a:t>
            </a:r>
            <a:r>
              <a:rPr lang="en-GB" b="1" i="0" dirty="0">
                <a:solidFill>
                  <a:srgbClr val="000000"/>
                </a:solidFill>
                <a:effectLst/>
                <a:latin typeface="Segoe UI" panose="020B0502040204020203" pitchFamily="34" charset="0"/>
              </a:rPr>
              <a:t> where X is the interface ID</a:t>
            </a:r>
          </a:p>
          <a:p>
            <a:r>
              <a:rPr lang="en-GB" b="1" dirty="0">
                <a:solidFill>
                  <a:srgbClr val="000000"/>
                </a:solidFill>
                <a:latin typeface="Segoe UI" panose="020B0502040204020203" pitchFamily="34" charset="0"/>
              </a:rPr>
              <a:t>Ping from an Attacker machine :</a:t>
            </a:r>
          </a:p>
          <a:p>
            <a:r>
              <a:rPr lang="en-GB" b="1" i="0" dirty="0">
                <a:solidFill>
                  <a:srgbClr val="000000"/>
                </a:solidFill>
                <a:effectLst/>
                <a:latin typeface="Segoe UI" panose="020B0502040204020203" pitchFamily="34" charset="0"/>
              </a:rPr>
              <a:t>ping 10.10.1.19 -t</a:t>
            </a:r>
            <a:r>
              <a:rPr lang="en-GB" b="0" i="0" dirty="0">
                <a:solidFill>
                  <a:srgbClr val="000000"/>
                </a:solidFill>
                <a:effectLst/>
                <a:latin typeface="Segoe UI" panose="020B0502040204020203" pitchFamily="34" charset="0"/>
              </a:rPr>
              <a:t> from the </a:t>
            </a:r>
            <a:r>
              <a:rPr lang="en-GB" b="1" i="0" dirty="0">
                <a:solidFill>
                  <a:srgbClr val="000000"/>
                </a:solidFill>
                <a:effectLst/>
                <a:latin typeface="Segoe UI" panose="020B0502040204020203" pitchFamily="34" charset="0"/>
              </a:rPr>
              <a:t>Attacker Machine</a:t>
            </a:r>
          </a:p>
          <a:p>
            <a:r>
              <a:rPr lang="en-GB" b="0" i="0" dirty="0">
                <a:solidFill>
                  <a:srgbClr val="000000"/>
                </a:solidFill>
                <a:effectLst/>
                <a:latin typeface="Segoe UI" panose="020B0502040204020203" pitchFamily="34" charset="0"/>
              </a:rPr>
              <a:t>Observe that Snort triggers an alarm, as shown in the screenshot:</a:t>
            </a:r>
            <a:endParaRPr lang="en-GB" dirty="0">
              <a:solidFill>
                <a:srgbClr val="000000"/>
              </a:solidFill>
              <a:latin typeface="Segoe UI" panose="020B0502040204020203" pitchFamily="34" charset="0"/>
            </a:endParaRPr>
          </a:p>
          <a:p>
            <a:endParaRPr lang="en-GB" dirty="0">
              <a:solidFill>
                <a:srgbClr val="000000"/>
              </a:solidFill>
              <a:latin typeface="Segoe UI" panose="020B0502040204020203" pitchFamily="34" charset="0"/>
            </a:endParaRPr>
          </a:p>
        </p:txBody>
      </p:sp>
    </p:spTree>
    <p:extLst>
      <p:ext uri="{BB962C8B-B14F-4D97-AF65-F5344CB8AC3E}">
        <p14:creationId xmlns:p14="http://schemas.microsoft.com/office/powerpoint/2010/main" val="125981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8FF58-5887-B3DD-6FAA-925738600F3E}"/>
              </a:ext>
            </a:extLst>
          </p:cNvPr>
          <p:cNvSpPr>
            <a:spLocks noGrp="1"/>
          </p:cNvSpPr>
          <p:nvPr>
            <p:ph type="title"/>
          </p:nvPr>
        </p:nvSpPr>
        <p:spPr>
          <a:xfrm>
            <a:off x="838200" y="365125"/>
            <a:ext cx="10515600" cy="1717675"/>
          </a:xfrm>
        </p:spPr>
        <p:txBody>
          <a:bodyPr>
            <a:normAutofit/>
          </a:bodyPr>
          <a:lstStyle/>
          <a:p>
            <a:r>
              <a:rPr lang="en-GB" sz="1800" b="1" i="0" dirty="0">
                <a:solidFill>
                  <a:srgbClr val="000000"/>
                </a:solidFill>
                <a:effectLst/>
                <a:latin typeface="Segoe UI" panose="020B0502040204020203" pitchFamily="34" charset="0"/>
              </a:rPr>
              <a:t>alert </a:t>
            </a:r>
            <a:r>
              <a:rPr lang="en-GB" sz="1800" b="1" i="0" dirty="0" err="1">
                <a:solidFill>
                  <a:srgbClr val="000000"/>
                </a:solidFill>
                <a:effectLst/>
                <a:latin typeface="Segoe UI" panose="020B0502040204020203" pitchFamily="34" charset="0"/>
              </a:rPr>
              <a:t>icmp</a:t>
            </a:r>
            <a:r>
              <a:rPr lang="en-GB" sz="1800" b="1" i="0" dirty="0">
                <a:solidFill>
                  <a:srgbClr val="000000"/>
                </a:solidFill>
                <a:effectLst/>
                <a:latin typeface="Segoe UI" panose="020B0502040204020203" pitchFamily="34" charset="0"/>
              </a:rPr>
              <a:t> $EXTERNAL_NET any -&gt; $HOME_NET 10.10.1.19 (</a:t>
            </a:r>
            <a:r>
              <a:rPr lang="en-GB" sz="1800" b="1" i="0" dirty="0" err="1">
                <a:solidFill>
                  <a:srgbClr val="000000"/>
                </a:solidFill>
                <a:effectLst/>
                <a:latin typeface="Segoe UI" panose="020B0502040204020203" pitchFamily="34" charset="0"/>
              </a:rPr>
              <a:t>msg</a:t>
            </a:r>
            <a:r>
              <a:rPr lang="en-GB" sz="1800" b="1" i="0" dirty="0">
                <a:solidFill>
                  <a:srgbClr val="000000"/>
                </a:solidFill>
                <a:effectLst/>
                <a:latin typeface="Segoe UI" panose="020B0502040204020203" pitchFamily="34" charset="0"/>
              </a:rPr>
              <a:t>:"ICMP-INFO PING"; icode:0; itype:8; reference:arachnids,135; reference:cve,1999-0265; </a:t>
            </a:r>
            <a:r>
              <a:rPr lang="en-GB" sz="1800" b="1" i="0" dirty="0" err="1">
                <a:solidFill>
                  <a:srgbClr val="000000"/>
                </a:solidFill>
                <a:effectLst/>
                <a:latin typeface="Segoe UI" panose="020B0502040204020203" pitchFamily="34" charset="0"/>
              </a:rPr>
              <a:t>classtype:bad-unknown</a:t>
            </a:r>
            <a:r>
              <a:rPr lang="en-GB" sz="1800" b="1" i="0" dirty="0">
                <a:solidFill>
                  <a:srgbClr val="000000"/>
                </a:solidFill>
                <a:effectLst/>
                <a:latin typeface="Segoe UI" panose="020B0502040204020203" pitchFamily="34" charset="0"/>
              </a:rPr>
              <a:t>; sid:472; rev:7;)</a:t>
            </a:r>
            <a:br>
              <a:rPr lang="en-GB" dirty="0"/>
            </a:br>
            <a:endParaRPr lang="en-GB" dirty="0"/>
          </a:p>
        </p:txBody>
      </p:sp>
      <p:sp>
        <p:nvSpPr>
          <p:cNvPr id="5" name="Rectangle 2">
            <a:extLst>
              <a:ext uri="{FF2B5EF4-FFF2-40B4-BE49-F238E27FC236}">
                <a16:creationId xmlns:a16="http://schemas.microsoft.com/office/drawing/2014/main" id="{2DD45AFD-992A-D9BB-633A-BC12436DDF0D}"/>
              </a:ext>
            </a:extLst>
          </p:cNvPr>
          <p:cNvSpPr>
            <a:spLocks noGrp="1" noChangeArrowheads="1"/>
          </p:cNvSpPr>
          <p:nvPr>
            <p:ph idx="1"/>
          </p:nvPr>
        </p:nvSpPr>
        <p:spPr bwMode="auto">
          <a:xfrm>
            <a:off x="838200" y="1799035"/>
            <a:ext cx="105156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alert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rule's action is to generate an alert when traffic matches the rule.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Protocol: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Unicode MS"/>
              </a:rPr>
              <a:t>icmp</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rule applies to Internet Control Message Protocol (ICMP) traffic.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Source IP and Port: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$EXTERNAL_NET any</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indicates that the source IP address is any address in the external network (</a:t>
            </a:r>
            <a:r>
              <a:rPr kumimoji="0" lang="en-US" altLang="en-US" sz="1800" b="0" i="0" u="none" strike="noStrike" cap="none" normalizeH="0" baseline="0" dirty="0">
                <a:ln>
                  <a:noFill/>
                </a:ln>
                <a:solidFill>
                  <a:schemeClr val="tx1"/>
                </a:solidFill>
                <a:effectLst/>
                <a:latin typeface="Arial Unicode MS"/>
              </a:rPr>
              <a:t>$EXTERNAL_NET</a:t>
            </a:r>
            <a:r>
              <a:rPr kumimoji="0" lang="en-US" altLang="en-US" sz="1800" b="0" i="0" u="none" strike="noStrike" cap="none" normalizeH="0" baseline="0" dirty="0">
                <a:ln>
                  <a:noFill/>
                </a:ln>
                <a:solidFill>
                  <a:schemeClr val="tx1"/>
                </a:solidFill>
                <a:effectLst/>
              </a:rPr>
              <a:t>). The source port is </a:t>
            </a:r>
            <a:r>
              <a:rPr kumimoji="0" lang="en-US" altLang="en-US" sz="1800" b="0" i="0" u="none" strike="noStrike" cap="none" normalizeH="0" baseline="0" dirty="0">
                <a:ln>
                  <a:noFill/>
                </a:ln>
                <a:solidFill>
                  <a:schemeClr val="tx1"/>
                </a:solidFill>
                <a:effectLst/>
                <a:latin typeface="Arial Unicode MS"/>
              </a:rPr>
              <a:t>any</a:t>
            </a:r>
            <a:r>
              <a:rPr kumimoji="0" lang="en-US" altLang="en-US" sz="1800" b="0" i="0" u="none" strike="noStrike" cap="none" normalizeH="0" baseline="0" dirty="0">
                <a:ln>
                  <a:noFill/>
                </a:ln>
                <a:solidFill>
                  <a:schemeClr val="tx1"/>
                </a:solidFill>
                <a:effectLst/>
              </a:rPr>
              <a:t>, which makes sense since ICMP doesn't use ports like TCP/UDP.</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Destination IP and Port: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$HOME_NET 10.10.1.19</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destination is the internal network (</a:t>
            </a:r>
            <a:r>
              <a:rPr kumimoji="0" lang="en-US" altLang="en-US" sz="1800" b="0" i="0" u="none" strike="noStrike" cap="none" normalizeH="0" baseline="0" dirty="0">
                <a:ln>
                  <a:noFill/>
                </a:ln>
                <a:solidFill>
                  <a:schemeClr val="tx1"/>
                </a:solidFill>
                <a:effectLst/>
                <a:latin typeface="Arial Unicode MS"/>
              </a:rPr>
              <a:t>$HOME_NET</a:t>
            </a:r>
            <a:r>
              <a:rPr kumimoji="0" lang="en-US" altLang="en-US" sz="1800" b="0" i="0" u="none" strike="noStrike" cap="none" normalizeH="0" baseline="0" dirty="0">
                <a:ln>
                  <a:noFill/>
                </a:ln>
                <a:solidFill>
                  <a:schemeClr val="tx1"/>
                </a:solidFill>
                <a:effectLst/>
              </a:rPr>
              <a:t>), specifically the IP address </a:t>
            </a:r>
            <a:r>
              <a:rPr kumimoji="0" lang="en-US" altLang="en-US" sz="1800" b="0" i="0" u="none" strike="noStrike" cap="none" normalizeH="0" baseline="0" dirty="0">
                <a:ln>
                  <a:noFill/>
                </a:ln>
                <a:solidFill>
                  <a:schemeClr val="tx1"/>
                </a:solidFill>
                <a:effectLst/>
                <a:latin typeface="Arial Unicode MS"/>
              </a:rPr>
              <a:t>10.10.1.19</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Message: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Unicode MS"/>
              </a:rPr>
              <a:t>msg:"ICMP-INFO</a:t>
            </a:r>
            <a:r>
              <a:rPr kumimoji="0" lang="en-US" altLang="en-US" sz="1800" b="0" i="0" u="none" strike="noStrike" cap="none" normalizeH="0" baseline="0" dirty="0">
                <a:ln>
                  <a:noFill/>
                </a:ln>
                <a:solidFill>
                  <a:schemeClr val="tx1"/>
                </a:solidFill>
                <a:effectLst/>
                <a:latin typeface="Arial Unicode MS"/>
              </a:rPr>
              <a:t> PING"</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When the rule is triggered, the message that appears in the alert is </a:t>
            </a:r>
            <a:r>
              <a:rPr kumimoji="0" lang="en-US" altLang="en-US" sz="1800" b="0" i="0" u="none" strike="noStrike" cap="none" normalizeH="0" baseline="0" dirty="0">
                <a:ln>
                  <a:noFill/>
                </a:ln>
                <a:solidFill>
                  <a:schemeClr val="tx1"/>
                </a:solidFill>
                <a:effectLst/>
                <a:latin typeface="Arial Unicode MS"/>
              </a:rPr>
              <a:t>"ICMP-INFO PING"</a:t>
            </a:r>
            <a:r>
              <a:rPr kumimoji="0" lang="en-US" altLang="en-US" sz="1800" b="0" i="0" u="none" strike="noStrike" cap="none" normalizeH="0" baseline="0" dirty="0">
                <a:ln>
                  <a:noFill/>
                </a:ln>
                <a:solidFill>
                  <a:schemeClr val="tx1"/>
                </a:solidFill>
                <a:effectLst/>
              </a:rPr>
              <a:t>. This indicates that the alert pertains to a ping or ICMP request.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9234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1C88A-7115-A591-4FC6-F1DBB6781428}"/>
              </a:ext>
            </a:extLst>
          </p:cNvPr>
          <p:cNvSpPr>
            <a:spLocks noGrp="1"/>
          </p:cNvSpPr>
          <p:nvPr>
            <p:ph type="title"/>
          </p:nvPr>
        </p:nvSpPr>
        <p:spPr/>
        <p:txBody>
          <a:bodyPr>
            <a:normAutofit/>
          </a:bodyPr>
          <a:lstStyle/>
          <a:p>
            <a:r>
              <a:rPr lang="en-GB" sz="2000" b="1" i="0" dirty="0">
                <a:solidFill>
                  <a:srgbClr val="000000"/>
                </a:solidFill>
                <a:effectLst/>
                <a:latin typeface="Segoe UI" panose="020B0502040204020203" pitchFamily="34" charset="0"/>
              </a:rPr>
              <a:t>alert </a:t>
            </a:r>
            <a:r>
              <a:rPr lang="en-GB" sz="2000" b="1" i="0" dirty="0" err="1">
                <a:solidFill>
                  <a:srgbClr val="000000"/>
                </a:solidFill>
                <a:effectLst/>
                <a:latin typeface="Segoe UI" panose="020B0502040204020203" pitchFamily="34" charset="0"/>
              </a:rPr>
              <a:t>icmp</a:t>
            </a:r>
            <a:r>
              <a:rPr lang="en-GB" sz="2000" b="1" i="0" dirty="0">
                <a:solidFill>
                  <a:srgbClr val="000000"/>
                </a:solidFill>
                <a:effectLst/>
                <a:latin typeface="Segoe UI" panose="020B0502040204020203" pitchFamily="34" charset="0"/>
              </a:rPr>
              <a:t> $EXTERNAL_NET any -&gt; $HOME_NET 10.10.1.19 (</a:t>
            </a:r>
            <a:r>
              <a:rPr lang="en-GB" sz="2000" b="1" i="0" dirty="0" err="1">
                <a:solidFill>
                  <a:srgbClr val="000000"/>
                </a:solidFill>
                <a:effectLst/>
                <a:latin typeface="Segoe UI" panose="020B0502040204020203" pitchFamily="34" charset="0"/>
              </a:rPr>
              <a:t>msg</a:t>
            </a:r>
            <a:r>
              <a:rPr lang="en-GB" sz="2000" b="1" i="0" dirty="0">
                <a:solidFill>
                  <a:srgbClr val="000000"/>
                </a:solidFill>
                <a:effectLst/>
                <a:latin typeface="Segoe UI" panose="020B0502040204020203" pitchFamily="34" charset="0"/>
              </a:rPr>
              <a:t>:"ICMP-INFO PING"; icode:0; itype:8; reference:arachnids,135; reference:cve,1999-0265; </a:t>
            </a:r>
            <a:r>
              <a:rPr lang="en-GB" sz="2000" b="1" i="0" dirty="0" err="1">
                <a:solidFill>
                  <a:srgbClr val="000000"/>
                </a:solidFill>
                <a:effectLst/>
                <a:latin typeface="Segoe UI" panose="020B0502040204020203" pitchFamily="34" charset="0"/>
              </a:rPr>
              <a:t>classtype:bad-unknown</a:t>
            </a:r>
            <a:r>
              <a:rPr lang="en-GB" sz="2000" b="1" i="0" dirty="0">
                <a:solidFill>
                  <a:srgbClr val="000000"/>
                </a:solidFill>
                <a:effectLst/>
                <a:latin typeface="Segoe UI" panose="020B0502040204020203" pitchFamily="34" charset="0"/>
              </a:rPr>
              <a:t>; sid:472; rev:7;)</a:t>
            </a:r>
            <a:br>
              <a:rPr lang="en-GB" sz="2000" dirty="0"/>
            </a:br>
            <a:endParaRPr lang="en-GB" sz="2000" dirty="0"/>
          </a:p>
        </p:txBody>
      </p:sp>
      <p:sp>
        <p:nvSpPr>
          <p:cNvPr id="4" name="Rectangle 1">
            <a:extLst>
              <a:ext uri="{FF2B5EF4-FFF2-40B4-BE49-F238E27FC236}">
                <a16:creationId xmlns:a16="http://schemas.microsoft.com/office/drawing/2014/main" id="{989C1E5A-5E62-278A-30EA-933D47A9D5E4}"/>
              </a:ext>
            </a:extLst>
          </p:cNvPr>
          <p:cNvSpPr>
            <a:spLocks noGrp="1" noChangeArrowheads="1"/>
          </p:cNvSpPr>
          <p:nvPr>
            <p:ph idx="1"/>
          </p:nvPr>
        </p:nvSpPr>
        <p:spPr bwMode="auto">
          <a:xfrm>
            <a:off x="838200" y="1739136"/>
            <a:ext cx="10515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ICMP Code (</a:t>
            </a:r>
            <a:r>
              <a:rPr kumimoji="0" lang="en-US" altLang="en-US" sz="1800" b="1" i="0" u="none" strike="noStrike" cap="none" normalizeH="0" baseline="0" dirty="0" err="1">
                <a:ln>
                  <a:noFill/>
                </a:ln>
                <a:solidFill>
                  <a:schemeClr val="tx1"/>
                </a:solidFill>
                <a:effectLst/>
                <a:latin typeface="Arial Unicode MS"/>
              </a:rPr>
              <a:t>icode</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icode:0</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specifies that the ICMP code (ICMP Echo Reply) must be </a:t>
            </a:r>
            <a:r>
              <a:rPr kumimoji="0" lang="en-US" altLang="en-US" sz="1800" b="0" i="0" u="none" strike="noStrike" cap="none" normalizeH="0" baseline="0" dirty="0">
                <a:ln>
                  <a:noFill/>
                </a:ln>
                <a:solidFill>
                  <a:schemeClr val="tx1"/>
                </a:solidFill>
                <a:effectLst/>
                <a:latin typeface="Arial Unicode MS"/>
              </a:rPr>
              <a:t>0</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ICMP Type (</a:t>
            </a:r>
            <a:r>
              <a:rPr kumimoji="0" lang="en-US" altLang="en-US" sz="1800" b="1" i="0" u="none" strike="noStrike" cap="none" normalizeH="0" baseline="0" dirty="0" err="1">
                <a:ln>
                  <a:noFill/>
                </a:ln>
                <a:solidFill>
                  <a:schemeClr val="tx1"/>
                </a:solidFill>
                <a:effectLst/>
                <a:latin typeface="Arial Unicode MS"/>
              </a:rPr>
              <a:t>itype</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itype:8</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defines the ICMP type as </a:t>
            </a:r>
            <a:r>
              <a:rPr kumimoji="0" lang="en-US" altLang="en-US" sz="1800" b="0" i="0" u="none" strike="noStrike" cap="none" normalizeH="0" baseline="0" dirty="0">
                <a:ln>
                  <a:noFill/>
                </a:ln>
                <a:solidFill>
                  <a:schemeClr val="tx1"/>
                </a:solidFill>
                <a:effectLst/>
                <a:latin typeface="Arial Unicode MS"/>
              </a:rPr>
              <a:t>8</a:t>
            </a:r>
            <a:r>
              <a:rPr kumimoji="0" lang="en-US" altLang="en-US" sz="1800" b="0" i="0" u="none" strike="noStrike" cap="none" normalizeH="0" baseline="0" dirty="0">
                <a:ln>
                  <a:noFill/>
                </a:ln>
                <a:solidFill>
                  <a:schemeClr val="tx1"/>
                </a:solidFill>
                <a:effectLst/>
              </a:rPr>
              <a:t>, which corresponds to an ICMP Echo Request (i.e., a ping request).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Reference: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reference:arachnids,135</a:t>
            </a:r>
            <a:r>
              <a:rPr kumimoji="0" lang="en-US" altLang="en-US" sz="1800" b="0" i="0" u="none" strike="noStrike" cap="none" normalizeH="0" baseline="0" dirty="0">
                <a:ln>
                  <a:noFill/>
                </a:ln>
                <a:solidFill>
                  <a:schemeClr val="tx1"/>
                </a:solidFill>
                <a:effectLst/>
              </a:rPr>
              <a:t> and </a:t>
            </a:r>
            <a:r>
              <a:rPr kumimoji="0" lang="en-US" altLang="en-US" sz="1800" b="0" i="0" u="none" strike="noStrike" cap="none" normalizeH="0" baseline="0" dirty="0">
                <a:ln>
                  <a:noFill/>
                </a:ln>
                <a:solidFill>
                  <a:schemeClr val="tx1"/>
                </a:solidFill>
                <a:effectLst/>
                <a:latin typeface="Arial Unicode MS"/>
              </a:rPr>
              <a:t>reference:cve,1999-0265</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are external references. </a:t>
            </a:r>
            <a:r>
              <a:rPr kumimoji="0" lang="en-US" altLang="en-US" sz="1800" b="0" i="0" u="none" strike="noStrike" cap="none" normalizeH="0" baseline="0" dirty="0">
                <a:ln>
                  <a:noFill/>
                </a:ln>
                <a:solidFill>
                  <a:schemeClr val="tx1"/>
                </a:solidFill>
                <a:effectLst/>
                <a:latin typeface="Arial Unicode MS"/>
              </a:rPr>
              <a:t>arachnids,135</a:t>
            </a:r>
            <a:r>
              <a:rPr kumimoji="0" lang="en-US" altLang="en-US" sz="1800" b="0" i="0" u="none" strike="noStrike" cap="none" normalizeH="0" baseline="0" dirty="0">
                <a:ln>
                  <a:noFill/>
                </a:ln>
                <a:solidFill>
                  <a:schemeClr val="tx1"/>
                </a:solidFill>
                <a:effectLst/>
              </a:rPr>
              <a:t> refers to a specific rule in the Arachnids rule set, and </a:t>
            </a:r>
            <a:r>
              <a:rPr kumimoji="0" lang="en-US" altLang="en-US" sz="1800" b="0" i="0" u="none" strike="noStrike" cap="none" normalizeH="0" baseline="0" dirty="0">
                <a:ln>
                  <a:noFill/>
                </a:ln>
                <a:solidFill>
                  <a:schemeClr val="tx1"/>
                </a:solidFill>
                <a:effectLst/>
                <a:latin typeface="Arial Unicode MS"/>
              </a:rPr>
              <a:t>cve,1999-0265</a:t>
            </a:r>
            <a:r>
              <a:rPr kumimoji="0" lang="en-US" altLang="en-US" sz="1800" b="0" i="0" u="none" strike="noStrike" cap="none" normalizeH="0" baseline="0" dirty="0">
                <a:ln>
                  <a:noFill/>
                </a:ln>
                <a:solidFill>
                  <a:schemeClr val="tx1"/>
                </a:solidFill>
                <a:effectLst/>
              </a:rPr>
              <a:t> refers to a Common Vulnerabilities and Exposures (CVE) entry that relates to this type of attack.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Classification (</a:t>
            </a:r>
            <a:r>
              <a:rPr kumimoji="0" lang="en-US" altLang="en-US" sz="1800" b="1" i="0" u="none" strike="noStrike" cap="none" normalizeH="0" baseline="0" dirty="0" err="1">
                <a:ln>
                  <a:noFill/>
                </a:ln>
                <a:solidFill>
                  <a:schemeClr val="tx1"/>
                </a:solidFill>
                <a:effectLst/>
                <a:latin typeface="Arial Unicode MS"/>
              </a:rPr>
              <a:t>classtype</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bad-unknown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0" i="0" u="none" strike="noStrike" cap="none" normalizeH="0" baseline="0" dirty="0" err="1">
                <a:ln>
                  <a:noFill/>
                </a:ln>
                <a:solidFill>
                  <a:schemeClr val="tx1"/>
                </a:solidFill>
                <a:effectLst/>
                <a:latin typeface="Arial Unicode MS"/>
              </a:rPr>
              <a:t>classtype</a:t>
            </a:r>
            <a:r>
              <a:rPr kumimoji="0" lang="en-US" altLang="en-US" sz="1800" b="0" i="0" u="none" strike="noStrike" cap="none" normalizeH="0" baseline="0" dirty="0">
                <a:ln>
                  <a:noFill/>
                </a:ln>
                <a:solidFill>
                  <a:schemeClr val="tx1"/>
                </a:solidFill>
                <a:effectLst/>
              </a:rPr>
              <a:t> field classifies the alert. Here, it is categorized as </a:t>
            </a:r>
            <a:r>
              <a:rPr kumimoji="0" lang="en-US" altLang="en-US" sz="1800" b="0" i="0" u="none" strike="noStrike" cap="none" normalizeH="0" baseline="0" dirty="0">
                <a:ln>
                  <a:noFill/>
                </a:ln>
                <a:solidFill>
                  <a:schemeClr val="tx1"/>
                </a:solidFill>
                <a:effectLst/>
                <a:latin typeface="Arial Unicode MS"/>
              </a:rPr>
              <a:t>bad-unknown</a:t>
            </a:r>
            <a:r>
              <a:rPr kumimoji="0" lang="en-US" altLang="en-US" sz="1800" b="0" i="0" u="none" strike="noStrike" cap="none" normalizeH="0" baseline="0" dirty="0">
                <a:ln>
                  <a:noFill/>
                </a:ln>
                <a:solidFill>
                  <a:schemeClr val="tx1"/>
                </a:solidFill>
                <a:effectLst/>
              </a:rPr>
              <a:t>, indicating that the traffic is potentially harmful but its exact nature is unclear.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Signature ID (</a:t>
            </a:r>
            <a:r>
              <a:rPr kumimoji="0" lang="en-US" altLang="en-US" sz="1800" b="1" i="0" u="none" strike="noStrike" cap="none" normalizeH="0" baseline="0" dirty="0" err="1">
                <a:ln>
                  <a:noFill/>
                </a:ln>
                <a:solidFill>
                  <a:schemeClr val="tx1"/>
                </a:solidFill>
                <a:effectLst/>
                <a:latin typeface="Arial Unicode MS"/>
              </a:rPr>
              <a:t>sid</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sid:472</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is the unique ID of the rule in the SNORT rule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Revision (</a:t>
            </a:r>
            <a:r>
              <a:rPr kumimoji="0" lang="en-US" altLang="en-US" sz="1800" b="1" i="0" u="none" strike="noStrike" cap="none" normalizeH="0" baseline="0" dirty="0">
                <a:ln>
                  <a:noFill/>
                </a:ln>
                <a:solidFill>
                  <a:schemeClr val="tx1"/>
                </a:solidFill>
                <a:effectLst/>
                <a:latin typeface="Arial Unicode MS"/>
              </a:rPr>
              <a:t>rev</a:t>
            </a:r>
            <a:r>
              <a:rPr kumimoji="0" lang="en-US" altLang="en-US" sz="1800" b="1" i="0" u="none" strike="noStrike" cap="none" normalizeH="0" baseline="0" dirty="0">
                <a:ln>
                  <a:noFill/>
                </a:ln>
                <a:solidFill>
                  <a:schemeClr val="tx1"/>
                </a:solidFill>
                <a:effectLst/>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rev:7</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is the revision number of the rule, indicating that this is the 7th revision of rule </a:t>
            </a:r>
            <a:r>
              <a:rPr kumimoji="0" lang="en-US" altLang="en-US" sz="1800" b="0" i="0" u="none" strike="noStrike" cap="none" normalizeH="0" baseline="0" dirty="0">
                <a:ln>
                  <a:noFill/>
                </a:ln>
                <a:solidFill>
                  <a:schemeClr val="tx1"/>
                </a:solidFill>
                <a:effectLst/>
                <a:latin typeface="Arial Unicode MS"/>
              </a:rPr>
              <a:t>sid:472</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5587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D56AC-2C39-6061-3956-18E992581492}"/>
              </a:ext>
            </a:extLst>
          </p:cNvPr>
          <p:cNvSpPr>
            <a:spLocks noGrp="1"/>
          </p:cNvSpPr>
          <p:nvPr>
            <p:ph type="title"/>
          </p:nvPr>
        </p:nvSpPr>
        <p:spPr/>
        <p:txBody>
          <a:bodyPr/>
          <a:lstStyle/>
          <a:p>
            <a:r>
              <a:rPr lang="en-GB" dirty="0"/>
              <a:t>Running Snort</a:t>
            </a:r>
          </a:p>
        </p:txBody>
      </p:sp>
      <p:sp>
        <p:nvSpPr>
          <p:cNvPr id="4" name="Text Placeholder 3">
            <a:extLst>
              <a:ext uri="{FF2B5EF4-FFF2-40B4-BE49-F238E27FC236}">
                <a16:creationId xmlns:a16="http://schemas.microsoft.com/office/drawing/2014/main" id="{E3FE6125-550B-73A3-5C46-74B5E9A2A2E4}"/>
              </a:ext>
            </a:extLst>
          </p:cNvPr>
          <p:cNvSpPr>
            <a:spLocks noGrp="1"/>
          </p:cNvSpPr>
          <p:nvPr>
            <p:ph type="body" sz="half" idx="2"/>
          </p:nvPr>
        </p:nvSpPr>
        <p:spPr/>
        <p:txBody>
          <a:bodyPr/>
          <a:lstStyle/>
          <a:p>
            <a:r>
              <a:rPr lang="en-GB" b="1" i="0" dirty="0">
                <a:solidFill>
                  <a:srgbClr val="000000"/>
                </a:solidFill>
                <a:effectLst/>
                <a:latin typeface="Segoe UI" panose="020B0502040204020203" pitchFamily="34" charset="0"/>
              </a:rPr>
              <a:t>Commencing packet processing (</a:t>
            </a:r>
            <a:r>
              <a:rPr lang="en-GB" b="1" i="0" dirty="0" err="1">
                <a:solidFill>
                  <a:srgbClr val="000000"/>
                </a:solidFill>
                <a:effectLst/>
                <a:latin typeface="Segoe UI" panose="020B0502040204020203" pitchFamily="34" charset="0"/>
              </a:rPr>
              <a:t>pid</a:t>
            </a:r>
            <a:r>
              <a:rPr lang="en-GB" b="1" i="0" dirty="0">
                <a:solidFill>
                  <a:srgbClr val="000000"/>
                </a:solidFill>
                <a:effectLst/>
                <a:latin typeface="Segoe UI" panose="020B0502040204020203" pitchFamily="34" charset="0"/>
              </a:rPr>
              <a:t>=</a:t>
            </a:r>
            <a:r>
              <a:rPr lang="en-GB" b="1" i="0" dirty="0" err="1">
                <a:solidFill>
                  <a:srgbClr val="000000"/>
                </a:solidFill>
                <a:effectLst/>
                <a:latin typeface="Segoe UI" panose="020B0502040204020203" pitchFamily="34" charset="0"/>
              </a:rPr>
              <a:t>xxxx</a:t>
            </a:r>
            <a:r>
              <a:rPr lang="en-GB" b="1" i="0" dirty="0">
                <a:solidFill>
                  <a:srgbClr val="000000"/>
                </a:solidFill>
                <a:effectLst/>
                <a:latin typeface="Segoe UI" panose="020B0502040204020203" pitchFamily="34" charset="0"/>
              </a:rPr>
              <a:t>)</a:t>
            </a:r>
            <a:r>
              <a:rPr lang="en-GB" b="0" i="0" dirty="0">
                <a:solidFill>
                  <a:srgbClr val="000000"/>
                </a:solidFill>
                <a:effectLst/>
                <a:latin typeface="Segoe UI" panose="020B0502040204020203" pitchFamily="34" charset="0"/>
              </a:rPr>
              <a:t> (the value of </a:t>
            </a:r>
            <a:r>
              <a:rPr lang="en-GB" b="0" i="0" dirty="0" err="1">
                <a:solidFill>
                  <a:srgbClr val="000000"/>
                </a:solidFill>
                <a:effectLst/>
                <a:latin typeface="Segoe UI" panose="020B0502040204020203" pitchFamily="34" charset="0"/>
              </a:rPr>
              <a:t>xxxx</a:t>
            </a:r>
            <a:r>
              <a:rPr lang="en-GB" b="0" i="0" dirty="0">
                <a:solidFill>
                  <a:srgbClr val="000000"/>
                </a:solidFill>
                <a:effectLst/>
                <a:latin typeface="Segoe UI" panose="020B0502040204020203" pitchFamily="34" charset="0"/>
              </a:rPr>
              <a:t> may be any number; in this task, it is 5384), as shown in the screenshot.</a:t>
            </a:r>
            <a:endParaRPr lang="en-GB" dirty="0"/>
          </a:p>
        </p:txBody>
      </p:sp>
      <p:pic>
        <p:nvPicPr>
          <p:cNvPr id="5122" name="Picture 2">
            <a:extLst>
              <a:ext uri="{FF2B5EF4-FFF2-40B4-BE49-F238E27FC236}">
                <a16:creationId xmlns:a16="http://schemas.microsoft.com/office/drawing/2014/main" id="{C21BBE65-179F-5D3F-3F23-916AD7A519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83188" y="705394"/>
            <a:ext cx="6711224" cy="5033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953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9BAE-362E-7AF8-215C-8DE1C3A528D5}"/>
              </a:ext>
            </a:extLst>
          </p:cNvPr>
          <p:cNvSpPr>
            <a:spLocks noGrp="1"/>
          </p:cNvSpPr>
          <p:nvPr>
            <p:ph type="title"/>
          </p:nvPr>
        </p:nvSpPr>
        <p:spPr/>
        <p:txBody>
          <a:bodyPr/>
          <a:lstStyle/>
          <a:p>
            <a:r>
              <a:rPr lang="en-GB" dirty="0"/>
              <a:t>Conclusion</a:t>
            </a:r>
          </a:p>
        </p:txBody>
      </p:sp>
      <p:pic>
        <p:nvPicPr>
          <p:cNvPr id="5" name="Content Placeholder 4">
            <a:extLst>
              <a:ext uri="{FF2B5EF4-FFF2-40B4-BE49-F238E27FC236}">
                <a16:creationId xmlns:a16="http://schemas.microsoft.com/office/drawing/2014/main" id="{820DD51A-F458-FB15-768D-345FFA27E7E7}"/>
              </a:ext>
            </a:extLst>
          </p:cNvPr>
          <p:cNvPicPr>
            <a:picLocks noGrp="1" noChangeAspect="1"/>
          </p:cNvPicPr>
          <p:nvPr>
            <p:ph idx="1"/>
          </p:nvPr>
        </p:nvPicPr>
        <p:blipFill>
          <a:blip r:embed="rId3"/>
          <a:stretch>
            <a:fillRect/>
          </a:stretch>
        </p:blipFill>
        <p:spPr>
          <a:xfrm>
            <a:off x="5183187" y="679269"/>
            <a:ext cx="6746057" cy="5059543"/>
          </a:xfrm>
          <a:prstGeom prst="rect">
            <a:avLst/>
          </a:prstGeom>
        </p:spPr>
      </p:pic>
      <p:sp>
        <p:nvSpPr>
          <p:cNvPr id="4" name="Text Placeholder 3">
            <a:extLst>
              <a:ext uri="{FF2B5EF4-FFF2-40B4-BE49-F238E27FC236}">
                <a16:creationId xmlns:a16="http://schemas.microsoft.com/office/drawing/2014/main" id="{2AC76F13-6C32-3B5E-184E-75B60C68D7F6}"/>
              </a:ext>
            </a:extLst>
          </p:cNvPr>
          <p:cNvSpPr>
            <a:spLocks noGrp="1"/>
          </p:cNvSpPr>
          <p:nvPr>
            <p:ph type="body" sz="half" idx="2"/>
          </p:nvPr>
        </p:nvSpPr>
        <p:spPr/>
        <p:txBody>
          <a:bodyPr/>
          <a:lstStyle/>
          <a:p>
            <a:r>
              <a:rPr lang="en-GB" b="0" i="0" dirty="0">
                <a:solidFill>
                  <a:srgbClr val="000000"/>
                </a:solidFill>
                <a:effectLst/>
                <a:latin typeface="Segoe UI" panose="020B0502040204020203" pitchFamily="34" charset="0"/>
              </a:rPr>
              <a:t>This means that whenever an attacker attempts to connect or communicate with the machine, Snort immediately triggers an alarm</a:t>
            </a:r>
          </a:p>
          <a:p>
            <a:r>
              <a:rPr lang="en-GB" b="0" i="0" dirty="0">
                <a:solidFill>
                  <a:srgbClr val="000000"/>
                </a:solidFill>
                <a:effectLst/>
                <a:latin typeface="Segoe UI" panose="020B0502040204020203" pitchFamily="34" charset="0"/>
              </a:rPr>
              <a:t>This will make you aware of the intrusion and can thus take certain security measures to disconnect the lines of communication with the attacker’s machine.</a:t>
            </a:r>
          </a:p>
          <a:p>
            <a:r>
              <a:rPr lang="en-GB" dirty="0">
                <a:solidFill>
                  <a:srgbClr val="000000"/>
                </a:solidFill>
                <a:latin typeface="Segoe UI" panose="020B0502040204020203" pitchFamily="34" charset="0"/>
              </a:rPr>
              <a:t>Reflection :</a:t>
            </a:r>
            <a:endParaRPr lang="en-GB" b="0" i="0" dirty="0">
              <a:solidFill>
                <a:srgbClr val="000000"/>
              </a:solidFill>
              <a:effectLst/>
              <a:latin typeface="Segoe UI" panose="020B0502040204020203" pitchFamily="34" charset="0"/>
            </a:endParaRPr>
          </a:p>
          <a:p>
            <a:r>
              <a:rPr lang="en-GB" dirty="0"/>
              <a:t>How can attackers modify their techniques to evade SNORT detection, and what changes can be made to SNORT configurations or rules to improve detection of these evasion methods?</a:t>
            </a:r>
          </a:p>
        </p:txBody>
      </p:sp>
    </p:spTree>
    <p:extLst>
      <p:ext uri="{BB962C8B-B14F-4D97-AF65-F5344CB8AC3E}">
        <p14:creationId xmlns:p14="http://schemas.microsoft.com/office/powerpoint/2010/main" val="3984425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1717</Words>
  <Application>Microsoft Office PowerPoint</Application>
  <PresentationFormat>Widescreen</PresentationFormat>
  <Paragraphs>103</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Arial Unicode MS</vt:lpstr>
      <vt:lpstr>Segoe UI</vt:lpstr>
      <vt:lpstr>Office Theme</vt:lpstr>
      <vt:lpstr>COM521 Ethical Hacking and Pen testing – iLabs</vt:lpstr>
      <vt:lpstr>Lab 1: Perform Intrusion Detection using Various Tools </vt:lpstr>
      <vt:lpstr>SNORT</vt:lpstr>
      <vt:lpstr>Tasks</vt:lpstr>
      <vt:lpstr>Snort Network Capture</vt:lpstr>
      <vt:lpstr>Tasks (Continued)</vt:lpstr>
      <vt:lpstr>alert icmp $EXTERNAL_NET any -&gt; $HOME_NET 10.10.1.19 (msg:"ICMP-INFO PING"; icode:0; itype:8; reference:arachnids,135; reference:cve,1999-0265; classtype:bad-unknown; sid:472; rev:7;) </vt:lpstr>
      <vt:lpstr>alert icmp $EXTERNAL_NET any -&gt; $HOME_NET 10.10.1.19 (msg:"ICMP-INFO PING"; icode:0; itype:8; reference:arachnids,135; reference:cve,1999-0265; classtype:bad-unknown; sid:472; rev:7;) </vt:lpstr>
      <vt:lpstr>Running Snort</vt:lpstr>
      <vt:lpstr>Conclusion</vt:lpstr>
    </vt:vector>
  </TitlesOfParts>
  <Company>Solent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Warren Earle</dc:creator>
  <cp:lastModifiedBy>Warren Earle</cp:lastModifiedBy>
  <cp:revision>1</cp:revision>
  <dcterms:created xsi:type="dcterms:W3CDTF">2024-10-23T08:55:15Z</dcterms:created>
  <dcterms:modified xsi:type="dcterms:W3CDTF">2024-10-23T10:47:09Z</dcterms:modified>
</cp:coreProperties>
</file>