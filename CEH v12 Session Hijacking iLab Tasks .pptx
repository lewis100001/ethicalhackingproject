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8" r:id="rId3"/>
    <p:sldId id="257" r:id="rId4"/>
    <p:sldId id="259" r:id="rId5"/>
    <p:sldId id="265" r:id="rId6"/>
    <p:sldId id="261" r:id="rId7"/>
    <p:sldId id="262" r:id="rId8"/>
    <p:sldId id="263" r:id="rId9"/>
    <p:sldId id="264" r:id="rId10"/>
    <p:sldId id="268" r:id="rId11"/>
    <p:sldId id="269" r:id="rId12"/>
    <p:sldId id="270" r:id="rId13"/>
    <p:sldId id="271"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7A9BF6-C041-4826-B880-05E2F8B42607}" v="2" dt="2024-10-23T08:52:25.8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51994" autoAdjust="0"/>
  </p:normalViewPr>
  <p:slideViewPr>
    <p:cSldViewPr snapToGrid="0">
      <p:cViewPr varScale="1">
        <p:scale>
          <a:sx n="33" d="100"/>
          <a:sy n="33" d="100"/>
        </p:scale>
        <p:origin x="1948"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rren Earle" userId="d6616931-0bac-4747-a013-5107eae7a1da" providerId="ADAL" clId="{BE7A9BF6-C041-4826-B880-05E2F8B42607}"/>
    <pc:docChg chg="undo custSel addSld delSld modSld">
      <pc:chgData name="Warren Earle" userId="d6616931-0bac-4747-a013-5107eae7a1da" providerId="ADAL" clId="{BE7A9BF6-C041-4826-B880-05E2F8B42607}" dt="2024-10-23T08:53:39.705" v="417" actId="27636"/>
      <pc:docMkLst>
        <pc:docMk/>
      </pc:docMkLst>
      <pc:sldChg chg="modSp mod">
        <pc:chgData name="Warren Earle" userId="d6616931-0bac-4747-a013-5107eae7a1da" providerId="ADAL" clId="{BE7A9BF6-C041-4826-B880-05E2F8B42607}" dt="2024-10-22T10:32:15.625" v="56" actId="20577"/>
        <pc:sldMkLst>
          <pc:docMk/>
          <pc:sldMk cId="3756490146" sldId="256"/>
        </pc:sldMkLst>
        <pc:spChg chg="mod">
          <ac:chgData name="Warren Earle" userId="d6616931-0bac-4747-a013-5107eae7a1da" providerId="ADAL" clId="{BE7A9BF6-C041-4826-B880-05E2F8B42607}" dt="2024-10-22T10:32:13.407" v="54" actId="27636"/>
          <ac:spMkLst>
            <pc:docMk/>
            <pc:sldMk cId="3756490146" sldId="256"/>
            <ac:spMk id="2" creationId="{1DCD98FD-FE5D-A3D6-E489-556ADAEF6A2B}"/>
          </ac:spMkLst>
        </pc:spChg>
        <pc:spChg chg="mod">
          <ac:chgData name="Warren Earle" userId="d6616931-0bac-4747-a013-5107eae7a1da" providerId="ADAL" clId="{BE7A9BF6-C041-4826-B880-05E2F8B42607}" dt="2024-10-22T10:32:15.625" v="56" actId="20577"/>
          <ac:spMkLst>
            <pc:docMk/>
            <pc:sldMk cId="3756490146" sldId="256"/>
            <ac:spMk id="3" creationId="{34FE9A10-C0C0-4A13-C46D-B37AAD065F23}"/>
          </ac:spMkLst>
        </pc:spChg>
      </pc:sldChg>
      <pc:sldChg chg="modSp mod">
        <pc:chgData name="Warren Earle" userId="d6616931-0bac-4747-a013-5107eae7a1da" providerId="ADAL" clId="{BE7A9BF6-C041-4826-B880-05E2F8B42607}" dt="2024-10-23T08:53:00.132" v="395" actId="20577"/>
        <pc:sldMkLst>
          <pc:docMk/>
          <pc:sldMk cId="1760828468" sldId="259"/>
        </pc:sldMkLst>
        <pc:spChg chg="mod">
          <ac:chgData name="Warren Earle" userId="d6616931-0bac-4747-a013-5107eae7a1da" providerId="ADAL" clId="{BE7A9BF6-C041-4826-B880-05E2F8B42607}" dt="2024-10-23T08:53:00.132" v="395" actId="20577"/>
          <ac:spMkLst>
            <pc:docMk/>
            <pc:sldMk cId="1760828468" sldId="259"/>
            <ac:spMk id="2" creationId="{7F6FE96C-6729-9CC3-197F-9149D4A87F04}"/>
          </ac:spMkLst>
        </pc:spChg>
        <pc:spChg chg="mod">
          <ac:chgData name="Warren Earle" userId="d6616931-0bac-4747-a013-5107eae7a1da" providerId="ADAL" clId="{BE7A9BF6-C041-4826-B880-05E2F8B42607}" dt="2024-10-23T08:51:58.822" v="377" actId="5793"/>
          <ac:spMkLst>
            <pc:docMk/>
            <pc:sldMk cId="1760828468" sldId="259"/>
            <ac:spMk id="3" creationId="{2C8D6B45-CE44-FF36-00AE-4C488931EBC3}"/>
          </ac:spMkLst>
        </pc:spChg>
      </pc:sldChg>
      <pc:sldChg chg="del">
        <pc:chgData name="Warren Earle" userId="d6616931-0bac-4747-a013-5107eae7a1da" providerId="ADAL" clId="{BE7A9BF6-C041-4826-B880-05E2F8B42607}" dt="2024-10-23T08:52:36.709" v="380" actId="47"/>
        <pc:sldMkLst>
          <pc:docMk/>
          <pc:sldMk cId="3381216456" sldId="260"/>
        </pc:sldMkLst>
      </pc:sldChg>
      <pc:sldChg chg="modSp mod">
        <pc:chgData name="Warren Earle" userId="d6616931-0bac-4747-a013-5107eae7a1da" providerId="ADAL" clId="{BE7A9BF6-C041-4826-B880-05E2F8B42607}" dt="2024-10-23T08:53:39.705" v="417" actId="27636"/>
        <pc:sldMkLst>
          <pc:docMk/>
          <pc:sldMk cId="134262257" sldId="261"/>
        </pc:sldMkLst>
        <pc:spChg chg="mod">
          <ac:chgData name="Warren Earle" userId="d6616931-0bac-4747-a013-5107eae7a1da" providerId="ADAL" clId="{BE7A9BF6-C041-4826-B880-05E2F8B42607}" dt="2024-10-23T08:53:38.049" v="415" actId="14100"/>
          <ac:spMkLst>
            <pc:docMk/>
            <pc:sldMk cId="134262257" sldId="261"/>
            <ac:spMk id="2" creationId="{7E2098DF-0C86-CE0E-6685-72A940919440}"/>
          </ac:spMkLst>
        </pc:spChg>
        <pc:spChg chg="mod">
          <ac:chgData name="Warren Earle" userId="d6616931-0bac-4747-a013-5107eae7a1da" providerId="ADAL" clId="{BE7A9BF6-C041-4826-B880-05E2F8B42607}" dt="2024-10-23T08:53:39.705" v="417" actId="27636"/>
          <ac:spMkLst>
            <pc:docMk/>
            <pc:sldMk cId="134262257" sldId="261"/>
            <ac:spMk id="3" creationId="{8534A888-48A2-D2AD-51B4-20239599F080}"/>
          </ac:spMkLst>
        </pc:spChg>
      </pc:sldChg>
      <pc:sldChg chg="modSp mod">
        <pc:chgData name="Warren Earle" userId="d6616931-0bac-4747-a013-5107eae7a1da" providerId="ADAL" clId="{BE7A9BF6-C041-4826-B880-05E2F8B42607}" dt="2024-10-23T08:53:30.834" v="414" actId="14100"/>
        <pc:sldMkLst>
          <pc:docMk/>
          <pc:sldMk cId="3592619818" sldId="262"/>
        </pc:sldMkLst>
        <pc:spChg chg="mod">
          <ac:chgData name="Warren Earle" userId="d6616931-0bac-4747-a013-5107eae7a1da" providerId="ADAL" clId="{BE7A9BF6-C041-4826-B880-05E2F8B42607}" dt="2024-10-23T08:53:28.792" v="413" actId="14100"/>
          <ac:spMkLst>
            <pc:docMk/>
            <pc:sldMk cId="3592619818" sldId="262"/>
            <ac:spMk id="2" creationId="{533D0D74-DAB6-2DFA-A92F-0F8138F1CD2A}"/>
          </ac:spMkLst>
        </pc:spChg>
        <pc:spChg chg="mod">
          <ac:chgData name="Warren Earle" userId="d6616931-0bac-4747-a013-5107eae7a1da" providerId="ADAL" clId="{BE7A9BF6-C041-4826-B880-05E2F8B42607}" dt="2024-10-23T08:53:30.834" v="414" actId="14100"/>
          <ac:spMkLst>
            <pc:docMk/>
            <pc:sldMk cId="3592619818" sldId="262"/>
            <ac:spMk id="3" creationId="{C66B0546-4378-5D38-5308-54B4E3654E4F}"/>
          </ac:spMkLst>
        </pc:spChg>
      </pc:sldChg>
      <pc:sldChg chg="modNotesTx">
        <pc:chgData name="Warren Earle" userId="d6616931-0bac-4747-a013-5107eae7a1da" providerId="ADAL" clId="{BE7A9BF6-C041-4826-B880-05E2F8B42607}" dt="2024-10-23T08:52:29.668" v="379"/>
        <pc:sldMkLst>
          <pc:docMk/>
          <pc:sldMk cId="2862568065" sldId="265"/>
        </pc:sldMkLst>
      </pc:sldChg>
      <pc:sldChg chg="addSp delSp modSp new mod modNotesTx">
        <pc:chgData name="Warren Earle" userId="d6616931-0bac-4747-a013-5107eae7a1da" providerId="ADAL" clId="{BE7A9BF6-C041-4826-B880-05E2F8B42607}" dt="2024-10-22T10:37:14.192" v="79" actId="1076"/>
        <pc:sldMkLst>
          <pc:docMk/>
          <pc:sldMk cId="3248080661" sldId="270"/>
        </pc:sldMkLst>
        <pc:spChg chg="mod">
          <ac:chgData name="Warren Earle" userId="d6616931-0bac-4747-a013-5107eae7a1da" providerId="ADAL" clId="{BE7A9BF6-C041-4826-B880-05E2F8B42607}" dt="2024-10-22T10:34:12.771" v="60" actId="27636"/>
          <ac:spMkLst>
            <pc:docMk/>
            <pc:sldMk cId="3248080661" sldId="270"/>
            <ac:spMk id="2" creationId="{74BE8B93-9513-9187-3B42-153E76C88518}"/>
          </ac:spMkLst>
        </pc:spChg>
        <pc:spChg chg="del">
          <ac:chgData name="Warren Earle" userId="d6616931-0bac-4747-a013-5107eae7a1da" providerId="ADAL" clId="{BE7A9BF6-C041-4826-B880-05E2F8B42607}" dt="2024-10-22T10:35:32.699" v="62" actId="22"/>
          <ac:spMkLst>
            <pc:docMk/>
            <pc:sldMk cId="3248080661" sldId="270"/>
            <ac:spMk id="3" creationId="{EC44EF40-5686-1265-1381-16558C7ED49E}"/>
          </ac:spMkLst>
        </pc:spChg>
        <pc:spChg chg="mod">
          <ac:chgData name="Warren Earle" userId="d6616931-0bac-4747-a013-5107eae7a1da" providerId="ADAL" clId="{BE7A9BF6-C041-4826-B880-05E2F8B42607}" dt="2024-10-22T10:37:08.707" v="77" actId="27636"/>
          <ac:spMkLst>
            <pc:docMk/>
            <pc:sldMk cId="3248080661" sldId="270"/>
            <ac:spMk id="4" creationId="{F41320ED-0880-037C-4094-B926C9197615}"/>
          </ac:spMkLst>
        </pc:spChg>
        <pc:picChg chg="add mod ord">
          <ac:chgData name="Warren Earle" userId="d6616931-0bac-4747-a013-5107eae7a1da" providerId="ADAL" clId="{BE7A9BF6-C041-4826-B880-05E2F8B42607}" dt="2024-10-22T10:37:14.192" v="79" actId="1076"/>
          <ac:picMkLst>
            <pc:docMk/>
            <pc:sldMk cId="3248080661" sldId="270"/>
            <ac:picMk id="6" creationId="{865C8C2A-B5E4-75F8-CF4A-45D87E8A5E03}"/>
          </ac:picMkLst>
        </pc:picChg>
      </pc:sldChg>
      <pc:sldChg chg="modSp new mod">
        <pc:chgData name="Warren Earle" userId="d6616931-0bac-4747-a013-5107eae7a1da" providerId="ADAL" clId="{BE7A9BF6-C041-4826-B880-05E2F8B42607}" dt="2024-10-22T10:53:31.030" v="302" actId="20577"/>
        <pc:sldMkLst>
          <pc:docMk/>
          <pc:sldMk cId="845457633" sldId="271"/>
        </pc:sldMkLst>
        <pc:spChg chg="mod">
          <ac:chgData name="Warren Earle" userId="d6616931-0bac-4747-a013-5107eae7a1da" providerId="ADAL" clId="{BE7A9BF6-C041-4826-B880-05E2F8B42607}" dt="2024-10-22T10:49:36.138" v="125" actId="20577"/>
          <ac:spMkLst>
            <pc:docMk/>
            <pc:sldMk cId="845457633" sldId="271"/>
            <ac:spMk id="2" creationId="{ACAD8ED8-5989-B720-06AB-458BB7B9721F}"/>
          </ac:spMkLst>
        </pc:spChg>
        <pc:spChg chg="mod">
          <ac:chgData name="Warren Earle" userId="d6616931-0bac-4747-a013-5107eae7a1da" providerId="ADAL" clId="{BE7A9BF6-C041-4826-B880-05E2F8B42607}" dt="2024-10-22T10:53:31.030" v="302" actId="20577"/>
          <ac:spMkLst>
            <pc:docMk/>
            <pc:sldMk cId="845457633" sldId="271"/>
            <ac:spMk id="3" creationId="{F23272AE-C5E7-88F5-1DF7-FD4528DE6896}"/>
          </ac:spMkLst>
        </pc:spChg>
      </pc:sldChg>
      <pc:sldChg chg="addSp delSp modSp new mod modNotesTx">
        <pc:chgData name="Warren Earle" userId="d6616931-0bac-4747-a013-5107eae7a1da" providerId="ADAL" clId="{BE7A9BF6-C041-4826-B880-05E2F8B42607}" dt="2024-10-22T11:06:24.243" v="374"/>
        <pc:sldMkLst>
          <pc:docMk/>
          <pc:sldMk cId="2290655437" sldId="272"/>
        </pc:sldMkLst>
        <pc:spChg chg="mod">
          <ac:chgData name="Warren Earle" userId="d6616931-0bac-4747-a013-5107eae7a1da" providerId="ADAL" clId="{BE7A9BF6-C041-4826-B880-05E2F8B42607}" dt="2024-10-22T10:58:06.838" v="370" actId="20577"/>
          <ac:spMkLst>
            <pc:docMk/>
            <pc:sldMk cId="2290655437" sldId="272"/>
            <ac:spMk id="2" creationId="{28CFE4A5-6A93-F5B7-E794-9F770672A07D}"/>
          </ac:spMkLst>
        </pc:spChg>
        <pc:spChg chg="del">
          <ac:chgData name="Warren Earle" userId="d6616931-0bac-4747-a013-5107eae7a1da" providerId="ADAL" clId="{BE7A9BF6-C041-4826-B880-05E2F8B42607}" dt="2024-10-22T10:54:19.715" v="304"/>
          <ac:spMkLst>
            <pc:docMk/>
            <pc:sldMk cId="2290655437" sldId="272"/>
            <ac:spMk id="3" creationId="{1D81BF0B-51E6-3F2F-F5F4-CE5C0257D1D5}"/>
          </ac:spMkLst>
        </pc:spChg>
        <pc:spChg chg="mod">
          <ac:chgData name="Warren Earle" userId="d6616931-0bac-4747-a013-5107eae7a1da" providerId="ADAL" clId="{BE7A9BF6-C041-4826-B880-05E2F8B42607}" dt="2024-10-22T10:57:49.792" v="336" actId="27636"/>
          <ac:spMkLst>
            <pc:docMk/>
            <pc:sldMk cId="2290655437" sldId="272"/>
            <ac:spMk id="4" creationId="{00A64F40-A8D3-7EB8-8993-C68722D853F4}"/>
          </ac:spMkLst>
        </pc:spChg>
        <pc:picChg chg="add mod">
          <ac:chgData name="Warren Earle" userId="d6616931-0bac-4747-a013-5107eae7a1da" providerId="ADAL" clId="{BE7A9BF6-C041-4826-B880-05E2F8B42607}" dt="2024-10-22T10:54:19.715" v="304"/>
          <ac:picMkLst>
            <pc:docMk/>
            <pc:sldMk cId="2290655437" sldId="272"/>
            <ac:picMk id="1026" creationId="{DF9FFE92-E18B-7A66-057C-A4774141CEA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2C76FD-3398-4714-8647-977151E14E33}" type="datetimeFigureOut">
              <a:rPr lang="en-GB" smtClean="0"/>
              <a:t>23/10/2024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9050BC-A0A7-4191-89ED-64ED1B34DC37}" type="slidenum">
              <a:rPr lang="en-GB" smtClean="0"/>
              <a:t>‹#›</a:t>
            </a:fld>
            <a:endParaRPr lang="en-GB"/>
          </a:p>
        </p:txBody>
      </p:sp>
    </p:spTree>
    <p:extLst>
      <p:ext uri="{BB962C8B-B14F-4D97-AF65-F5344CB8AC3E}">
        <p14:creationId xmlns:p14="http://schemas.microsoft.com/office/powerpoint/2010/main" val="915216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000000"/>
                </a:solidFill>
                <a:effectLst/>
                <a:latin typeface="Segoe UI" panose="020B0502040204020203" pitchFamily="34" charset="0"/>
              </a:rPr>
              <a:t>Session hijacking allows an attacker to take over an active session by bypassing the authentication process. It involves stealing or guessing a victim’s valid session ID, which the server uses to identify authenticated users, and using it to establish a connection with the server. The server responds to the attacker’s requests as though it were communicating with an authenticated user, after which the attacker is able to perform any action on that system.</a:t>
            </a:r>
          </a:p>
          <a:p>
            <a:pPr algn="l"/>
            <a:r>
              <a:rPr lang="en-GB" b="0" i="0" dirty="0">
                <a:solidFill>
                  <a:srgbClr val="000000"/>
                </a:solidFill>
                <a:effectLst/>
                <a:latin typeface="Segoe UI" panose="020B0502040204020203" pitchFamily="34" charset="0"/>
              </a:rPr>
              <a:t>Attackers can use session hijacking to launch various kinds of attacks such as man-in-the-middle (MITM) and Denial-of-Service (DoS) attacks. A MITM attack occurs when an attacker places himself/herself between the authorized client and the server to intercept information flowing in either direction. A DoS attack happens when attackers sniff sensitive information and use it to make host or network resource unavailable to users, usually by flooding the target with requests until the system is overloaded.</a:t>
            </a:r>
          </a:p>
          <a:p>
            <a:pPr algn="l"/>
            <a:r>
              <a:rPr lang="en-GB" b="0" i="0" dirty="0">
                <a:solidFill>
                  <a:srgbClr val="000000"/>
                </a:solidFill>
                <a:effectLst/>
                <a:latin typeface="Segoe UI" panose="020B0502040204020203" pitchFamily="34" charset="0"/>
              </a:rPr>
              <a:t>As a professional ethical hacker or penetration tester, you must possess the required knowledge to hijack sessions in order to test the systems in the target network.</a:t>
            </a:r>
          </a:p>
          <a:p>
            <a:endParaRPr lang="en-GB" dirty="0"/>
          </a:p>
        </p:txBody>
      </p:sp>
      <p:sp>
        <p:nvSpPr>
          <p:cNvPr id="4" name="Slide Number Placeholder 3"/>
          <p:cNvSpPr>
            <a:spLocks noGrp="1"/>
          </p:cNvSpPr>
          <p:nvPr>
            <p:ph type="sldNum" sz="quarter" idx="5"/>
          </p:nvPr>
        </p:nvSpPr>
        <p:spPr/>
        <p:txBody>
          <a:bodyPr/>
          <a:lstStyle/>
          <a:p>
            <a:fld id="{249050BC-A0A7-4191-89ED-64ED1B34DC37}" type="slidenum">
              <a:rPr lang="en-GB" smtClean="0"/>
              <a:t>2</a:t>
            </a:fld>
            <a:endParaRPr lang="en-GB"/>
          </a:p>
        </p:txBody>
      </p:sp>
    </p:spTree>
    <p:extLst>
      <p:ext uri="{BB962C8B-B14F-4D97-AF65-F5344CB8AC3E}">
        <p14:creationId xmlns:p14="http://schemas.microsoft.com/office/powerpoint/2010/main" val="22518780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1" i="0" dirty="0">
                <a:solidFill>
                  <a:srgbClr val="000000"/>
                </a:solidFill>
                <a:effectLst/>
                <a:latin typeface="Segoe UI" panose="020B0502040204020203" pitchFamily="34" charset="0"/>
              </a:rPr>
              <a:t>Overview of Session Hijacking</a:t>
            </a:r>
            <a:endParaRPr lang="en-GB" b="0" i="0" dirty="0">
              <a:solidFill>
                <a:srgbClr val="000000"/>
              </a:solidFill>
              <a:effectLst/>
              <a:latin typeface="Segoe UI" panose="020B0502040204020203" pitchFamily="34" charset="0"/>
            </a:endParaRPr>
          </a:p>
          <a:p>
            <a:pPr algn="l"/>
            <a:r>
              <a:rPr lang="en-GB" b="0" i="0" dirty="0">
                <a:solidFill>
                  <a:srgbClr val="000000"/>
                </a:solidFill>
                <a:effectLst/>
                <a:latin typeface="Segoe UI" panose="020B0502040204020203" pitchFamily="34" charset="0"/>
              </a:rPr>
              <a:t>Session hijacking can be divided into three broad phases:</a:t>
            </a:r>
          </a:p>
          <a:p>
            <a:pPr algn="l">
              <a:buFont typeface="Arial" panose="020B0604020202020204" pitchFamily="34" charset="0"/>
              <a:buChar char="•"/>
            </a:pPr>
            <a:r>
              <a:rPr lang="en-GB" b="1" i="0" dirty="0">
                <a:solidFill>
                  <a:srgbClr val="000000"/>
                </a:solidFill>
                <a:effectLst/>
                <a:latin typeface="Segoe UI" panose="020B0502040204020203" pitchFamily="34" charset="0"/>
              </a:rPr>
              <a:t>Tracking the Connection</a:t>
            </a:r>
            <a:r>
              <a:rPr lang="en-GB" b="0" i="0" dirty="0">
                <a:solidFill>
                  <a:srgbClr val="000000"/>
                </a:solidFill>
                <a:effectLst/>
                <a:latin typeface="Segoe UI" panose="020B0502040204020203" pitchFamily="34" charset="0"/>
              </a:rPr>
              <a:t>: The attacker uses a network sniffer to track a victim and host, or uses a tool such as Nmap to scan the network for a target with a TCP sequence that is easy to predict</a:t>
            </a:r>
          </a:p>
          <a:p>
            <a:pPr algn="l">
              <a:buFont typeface="Arial" panose="020B0604020202020204" pitchFamily="34" charset="0"/>
              <a:buChar char="•"/>
            </a:pPr>
            <a:r>
              <a:rPr lang="en-GB" b="1" i="0" dirty="0">
                <a:solidFill>
                  <a:srgbClr val="000000"/>
                </a:solidFill>
                <a:effectLst/>
                <a:latin typeface="Segoe UI" panose="020B0502040204020203" pitchFamily="34" charset="0"/>
              </a:rPr>
              <a:t>Desynchronizing the Connection</a:t>
            </a:r>
            <a:r>
              <a:rPr lang="en-GB" b="0" i="0" dirty="0">
                <a:solidFill>
                  <a:srgbClr val="000000"/>
                </a:solidFill>
                <a:effectLst/>
                <a:latin typeface="Segoe UI" panose="020B0502040204020203" pitchFamily="34" charset="0"/>
              </a:rPr>
              <a:t>: A desynchronized state occurs when a connection between the target and host has been established, or is stable with no data transmission, or when the server’s sequence number is not equal to the client’s acknowledgment number (or vice versa)</a:t>
            </a:r>
          </a:p>
          <a:p>
            <a:pPr algn="l">
              <a:buFont typeface="Arial" panose="020B0604020202020204" pitchFamily="34" charset="0"/>
              <a:buChar char="•"/>
            </a:pPr>
            <a:r>
              <a:rPr lang="en-GB" b="1" i="0" dirty="0">
                <a:solidFill>
                  <a:srgbClr val="000000"/>
                </a:solidFill>
                <a:effectLst/>
                <a:latin typeface="Segoe UI" panose="020B0502040204020203" pitchFamily="34" charset="0"/>
              </a:rPr>
              <a:t>Injecting the Attacker’s Packet</a:t>
            </a:r>
            <a:r>
              <a:rPr lang="en-GB" b="0" i="0" dirty="0">
                <a:solidFill>
                  <a:srgbClr val="000000"/>
                </a:solidFill>
                <a:effectLst/>
                <a:latin typeface="Segoe UI" panose="020B0502040204020203" pitchFamily="34" charset="0"/>
              </a:rPr>
              <a:t>: Once the attacker has interrupted the connection between the server and target, they can either inject data into the network or actively participate as the man-in-the-middle, passing data between the target and server, while reading and injecting data at will</a:t>
            </a:r>
          </a:p>
          <a:p>
            <a:endParaRPr lang="en-GB" dirty="0"/>
          </a:p>
        </p:txBody>
      </p:sp>
      <p:sp>
        <p:nvSpPr>
          <p:cNvPr id="4" name="Slide Number Placeholder 3"/>
          <p:cNvSpPr>
            <a:spLocks noGrp="1"/>
          </p:cNvSpPr>
          <p:nvPr>
            <p:ph type="sldNum" sz="quarter" idx="5"/>
          </p:nvPr>
        </p:nvSpPr>
        <p:spPr/>
        <p:txBody>
          <a:bodyPr/>
          <a:lstStyle/>
          <a:p>
            <a:fld id="{249050BC-A0A7-4191-89ED-64ED1B34DC37}" type="slidenum">
              <a:rPr lang="en-GB" smtClean="0"/>
              <a:t>3</a:t>
            </a:fld>
            <a:endParaRPr lang="en-GB"/>
          </a:p>
        </p:txBody>
      </p:sp>
    </p:spTree>
    <p:extLst>
      <p:ext uri="{BB962C8B-B14F-4D97-AF65-F5344CB8AC3E}">
        <p14:creationId xmlns:p14="http://schemas.microsoft.com/office/powerpoint/2010/main" val="4034028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b="0" i="0" dirty="0">
                <a:solidFill>
                  <a:srgbClr val="000000"/>
                </a:solidFill>
                <a:effectLst/>
                <a:latin typeface="Segoe UI" panose="020B0502040204020203" pitchFamily="34" charset="0"/>
              </a:rPr>
              <a:t>Hijack a session using Zed Attack Proxy (ZAP)</a:t>
            </a:r>
          </a:p>
          <a:p>
            <a:pPr algn="l">
              <a:buFont typeface="Arial" panose="020B0604020202020204" pitchFamily="34" charset="0"/>
              <a:buChar char="•"/>
            </a:pPr>
            <a:r>
              <a:rPr lang="en-GB" b="0" i="0" dirty="0">
                <a:solidFill>
                  <a:srgbClr val="000000"/>
                </a:solidFill>
                <a:effectLst/>
                <a:latin typeface="Segoe UI" panose="020B0502040204020203" pitchFamily="34" charset="0"/>
              </a:rPr>
              <a:t>Intercept HTTP traffic using </a:t>
            </a:r>
            <a:r>
              <a:rPr lang="en-GB" b="0" i="0" dirty="0" err="1">
                <a:solidFill>
                  <a:srgbClr val="000000"/>
                </a:solidFill>
                <a:effectLst/>
                <a:latin typeface="Segoe UI" panose="020B0502040204020203" pitchFamily="34" charset="0"/>
              </a:rPr>
              <a:t>bettercap</a:t>
            </a:r>
            <a:endParaRPr lang="en-GB" b="0" i="0" dirty="0">
              <a:solidFill>
                <a:srgbClr val="000000"/>
              </a:solidFill>
              <a:effectLst/>
              <a:latin typeface="Segoe UI" panose="020B0502040204020203" pitchFamily="34" charset="0"/>
            </a:endParaRPr>
          </a:p>
          <a:p>
            <a:pPr algn="l">
              <a:buFont typeface="Arial" panose="020B0604020202020204" pitchFamily="34" charset="0"/>
              <a:buChar char="•"/>
            </a:pPr>
            <a:r>
              <a:rPr lang="en-GB" b="0" i="0" dirty="0">
                <a:solidFill>
                  <a:srgbClr val="000000"/>
                </a:solidFill>
                <a:effectLst/>
                <a:latin typeface="Segoe UI" panose="020B0502040204020203" pitchFamily="34" charset="0"/>
              </a:rPr>
              <a:t>Intercept HTTP traffic using Hetty</a:t>
            </a:r>
          </a:p>
          <a:p>
            <a:endParaRPr lang="en-GB" dirty="0"/>
          </a:p>
        </p:txBody>
      </p:sp>
      <p:sp>
        <p:nvSpPr>
          <p:cNvPr id="4" name="Slide Number Placeholder 3"/>
          <p:cNvSpPr>
            <a:spLocks noGrp="1"/>
          </p:cNvSpPr>
          <p:nvPr>
            <p:ph type="sldNum" sz="quarter" idx="5"/>
          </p:nvPr>
        </p:nvSpPr>
        <p:spPr/>
        <p:txBody>
          <a:bodyPr/>
          <a:lstStyle/>
          <a:p>
            <a:fld id="{249050BC-A0A7-4191-89ED-64ED1B34DC37}" type="slidenum">
              <a:rPr lang="en-GB" smtClean="0"/>
              <a:t>4</a:t>
            </a:fld>
            <a:endParaRPr lang="en-GB"/>
          </a:p>
        </p:txBody>
      </p:sp>
    </p:spTree>
    <p:extLst>
      <p:ext uri="{BB962C8B-B14F-4D97-AF65-F5344CB8AC3E}">
        <p14:creationId xmlns:p14="http://schemas.microsoft.com/office/powerpoint/2010/main" val="3548540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000000"/>
                </a:solidFill>
                <a:effectLst/>
                <a:latin typeface="Segoe UI" panose="020B0502040204020203" pitchFamily="34" charset="0"/>
              </a:rPr>
              <a:t>Zed Attack Proxy (ZAP) is an integrated penetration testing tool for finding vulnerabilities in web applications. It offers automated scanners as well as a set of tools that allow you to find security vulnerabilities manually. It is designed to be used by people with a wide range of security experience, and as such is ideal for developers and functional testers who are new to penetration testing.</a:t>
            </a:r>
          </a:p>
          <a:p>
            <a:pPr algn="l"/>
            <a:r>
              <a:rPr lang="en-GB" b="0" i="0" dirty="0">
                <a:solidFill>
                  <a:srgbClr val="000000"/>
                </a:solidFill>
                <a:effectLst/>
                <a:latin typeface="Segoe UI" panose="020B0502040204020203" pitchFamily="34" charset="0"/>
              </a:rPr>
              <a:t>ZAP allows you to see all the requests you make to a web app and all the responses you receive from it. Among other things, it allows you to see AJAX calls that may not otherwise be outright visible. You can also set breakpoints, which allow you to change the requests and responses in real-time.</a:t>
            </a:r>
          </a:p>
          <a:p>
            <a:pPr algn="l"/>
            <a:r>
              <a:rPr lang="en-GB" b="0" i="0" dirty="0">
                <a:solidFill>
                  <a:srgbClr val="000000"/>
                </a:solidFill>
                <a:effectLst/>
                <a:latin typeface="Segoe UI" panose="020B0502040204020203" pitchFamily="34" charset="0"/>
              </a:rPr>
              <a:t>Here, we will hijack a session using ZAP. You will learn how to intercept the traffic of victims’ machines with a proxy and how to view all the requests and responses from them.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p:cNvSpPr>
            <a:spLocks noGrp="1"/>
          </p:cNvSpPr>
          <p:nvPr>
            <p:ph type="sldNum" sz="quarter" idx="5"/>
          </p:nvPr>
        </p:nvSpPr>
        <p:spPr/>
        <p:txBody>
          <a:bodyPr/>
          <a:lstStyle/>
          <a:p>
            <a:fld id="{249050BC-A0A7-4191-89ED-64ED1B34DC37}" type="slidenum">
              <a:rPr lang="en-GB" smtClean="0"/>
              <a:t>5</a:t>
            </a:fld>
            <a:endParaRPr lang="en-GB"/>
          </a:p>
        </p:txBody>
      </p:sp>
    </p:spTree>
    <p:extLst>
      <p:ext uri="{BB962C8B-B14F-4D97-AF65-F5344CB8AC3E}">
        <p14:creationId xmlns:p14="http://schemas.microsoft.com/office/powerpoint/2010/main" val="1165571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Using the Zed Attack Proxy (ZAP) to modify HTTP requests and responses has significantly enhanced the individual's understanding of web security, particularly in the way data is exchanged between clients and servers and how vulnerable these interactions can be to manipulation. By intercepting and altering requests, they have gained insight into how attackers could exploit web applications. For instance, changing GET requests to redirect users from a legitimate site to a malicious one illustrates how easily users can be misled, emphasizing the importance of secure coding practices and comprehensive security testing in web development.</a:t>
            </a:r>
          </a:p>
          <a:p>
            <a:r>
              <a:rPr lang="en-GB" dirty="0"/>
              <a:t>Furthermore, this experience highlighted the ethical responsibilities tied to possessing such capabilities. While these skills are valuable for identifying vulnerabilities and strengthening application security, they can also be misused. It is crucial to approach these activities with a sense of legal and ethical duty, ensuring that penetration testing is conducted with proper authorization and with the intent of improving security, not causing harm.</a:t>
            </a:r>
          </a:p>
          <a:p>
            <a:r>
              <a:rPr lang="en-GB" dirty="0"/>
              <a:t>In summary, by using ZAP to modify HTTP requests and responses, the individual not only gained technical knowledge about security vulnerabilities but also developed a deeper appreciation for the ethical implications of such actions. It serves as a reminder that the ability to manipulate web traffic must be used responsibly and within legal boundaries."</a:t>
            </a:r>
          </a:p>
          <a:p>
            <a:r>
              <a:rPr lang="en-GB" dirty="0"/>
              <a:t>This version maintains a reflective tone while keeping the focus on the individual's learning and ethical considerations, expressed in the third person.</a:t>
            </a:r>
          </a:p>
          <a:p>
            <a:endParaRPr lang="en-GB" dirty="0"/>
          </a:p>
        </p:txBody>
      </p:sp>
      <p:sp>
        <p:nvSpPr>
          <p:cNvPr id="4" name="Slide Number Placeholder 3"/>
          <p:cNvSpPr>
            <a:spLocks noGrp="1"/>
          </p:cNvSpPr>
          <p:nvPr>
            <p:ph type="sldNum" sz="quarter" idx="5"/>
          </p:nvPr>
        </p:nvSpPr>
        <p:spPr/>
        <p:txBody>
          <a:bodyPr/>
          <a:lstStyle/>
          <a:p>
            <a:fld id="{249050BC-A0A7-4191-89ED-64ED1B34DC37}" type="slidenum">
              <a:rPr lang="en-GB" smtClean="0"/>
              <a:t>8</a:t>
            </a:fld>
            <a:endParaRPr lang="en-GB"/>
          </a:p>
        </p:txBody>
      </p:sp>
    </p:spTree>
    <p:extLst>
      <p:ext uri="{BB962C8B-B14F-4D97-AF65-F5344CB8AC3E}">
        <p14:creationId xmlns:p14="http://schemas.microsoft.com/office/powerpoint/2010/main" val="1672923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000000"/>
                </a:solidFill>
                <a:effectLst/>
                <a:latin typeface="Segoe UI" panose="020B0502040204020203" pitchFamily="34" charset="0"/>
              </a:rPr>
              <a:t>Attackers can use session hijacking to launch various kinds of attacks such as man-in-the middle (MITM) attacks. In an MITM attack, the attacker places himself/herself between the authorized client and the webserver so that all information traveling in either direction passes through them.</a:t>
            </a:r>
          </a:p>
          <a:p>
            <a:pPr algn="l"/>
            <a:r>
              <a:rPr lang="en-GB" b="0" i="0" dirty="0">
                <a:solidFill>
                  <a:srgbClr val="000000"/>
                </a:solidFill>
                <a:effectLst/>
                <a:latin typeface="Segoe UI" panose="020B0502040204020203" pitchFamily="34" charset="0"/>
              </a:rPr>
              <a:t>An ethical hacker or a penetration tester, you must know how MITM attacks work, so that you can protect your organization’s sensitive information from them. </a:t>
            </a:r>
            <a:r>
              <a:rPr lang="en-GB" b="0" i="0" dirty="0" err="1">
                <a:solidFill>
                  <a:srgbClr val="000000"/>
                </a:solidFill>
                <a:effectLst/>
                <a:latin typeface="Segoe UI" panose="020B0502040204020203" pitchFamily="34" charset="0"/>
              </a:rPr>
              <a:t>bettercap</a:t>
            </a:r>
            <a:r>
              <a:rPr lang="en-GB" b="0" i="0" dirty="0">
                <a:solidFill>
                  <a:srgbClr val="000000"/>
                </a:solidFill>
                <a:effectLst/>
                <a:latin typeface="Segoe UI" panose="020B0502040204020203" pitchFamily="34" charset="0"/>
              </a:rPr>
              <a:t> is a powerful, flexible, and portable tool created to perform various types of MITM attacks against a network; manipulate HTTP, HTTPS, and TCP traffic in real-time; sniff for credentials; etc.</a:t>
            </a:r>
          </a:p>
          <a:p>
            <a:endParaRPr lang="en-GB" dirty="0"/>
          </a:p>
        </p:txBody>
      </p:sp>
      <p:sp>
        <p:nvSpPr>
          <p:cNvPr id="4" name="Slide Number Placeholder 3"/>
          <p:cNvSpPr>
            <a:spLocks noGrp="1"/>
          </p:cNvSpPr>
          <p:nvPr>
            <p:ph type="sldNum" sz="quarter" idx="5"/>
          </p:nvPr>
        </p:nvSpPr>
        <p:spPr/>
        <p:txBody>
          <a:bodyPr/>
          <a:lstStyle/>
          <a:p>
            <a:fld id="{249050BC-A0A7-4191-89ED-64ED1B34DC37}" type="slidenum">
              <a:rPr lang="en-GB" smtClean="0"/>
              <a:t>9</a:t>
            </a:fld>
            <a:endParaRPr lang="en-GB"/>
          </a:p>
        </p:txBody>
      </p:sp>
    </p:spTree>
    <p:extLst>
      <p:ext uri="{BB962C8B-B14F-4D97-AF65-F5344CB8AC3E}">
        <p14:creationId xmlns:p14="http://schemas.microsoft.com/office/powerpoint/2010/main" val="14820415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err="1">
                <a:solidFill>
                  <a:srgbClr val="000000"/>
                </a:solidFill>
                <a:effectLst/>
                <a:latin typeface="Segoe UI" panose="020B0502040204020203" pitchFamily="34" charset="0"/>
              </a:rPr>
              <a:t>net.probe</a:t>
            </a:r>
            <a:r>
              <a:rPr lang="en-GB" b="0" i="0" dirty="0">
                <a:solidFill>
                  <a:srgbClr val="000000"/>
                </a:solidFill>
                <a:effectLst/>
                <a:latin typeface="Segoe UI" panose="020B0502040204020203" pitchFamily="34" charset="0"/>
              </a:rPr>
              <a:t> This module will send different types of probe packets to each IP in the current subnet for the </a:t>
            </a:r>
            <a:r>
              <a:rPr lang="en-GB" b="1" i="0" dirty="0" err="1">
                <a:solidFill>
                  <a:srgbClr val="000000"/>
                </a:solidFill>
                <a:effectLst/>
                <a:latin typeface="Segoe UI" panose="020B0502040204020203" pitchFamily="34" charset="0"/>
              </a:rPr>
              <a:t>net.recon</a:t>
            </a:r>
            <a:r>
              <a:rPr lang="en-GB" b="0" i="0" dirty="0">
                <a:solidFill>
                  <a:srgbClr val="000000"/>
                </a:solidFill>
                <a:effectLst/>
                <a:latin typeface="Segoe UI" panose="020B0502040204020203" pitchFamily="34" charset="0"/>
              </a:rPr>
              <a:t> </a:t>
            </a:r>
          </a:p>
          <a:p>
            <a:endParaRPr lang="en-GB" b="0" i="0" dirty="0">
              <a:solidFill>
                <a:srgbClr val="000000"/>
              </a:solidFill>
              <a:effectLst/>
              <a:latin typeface="Segoe UI" panose="020B0502040204020203" pitchFamily="34" charset="0"/>
            </a:endParaRPr>
          </a:p>
          <a:p>
            <a:r>
              <a:rPr lang="en-GB" b="0" i="0" dirty="0" err="1">
                <a:solidFill>
                  <a:srgbClr val="000000"/>
                </a:solidFill>
                <a:effectLst/>
                <a:latin typeface="Segoe UI" panose="020B0502040204020203" pitchFamily="34" charset="0"/>
              </a:rPr>
              <a:t>net.recon</a:t>
            </a:r>
            <a:r>
              <a:rPr lang="en-GB" b="0" i="0" dirty="0">
                <a:solidFill>
                  <a:srgbClr val="000000"/>
                </a:solidFill>
                <a:effectLst/>
                <a:latin typeface="Segoe UI" panose="020B0502040204020203" pitchFamily="34" charset="0"/>
              </a:rPr>
              <a:t> module displays the detected active IP addresses in the network. In real-time, this module will start sniffing network </a:t>
            </a:r>
            <a:r>
              <a:rPr lang="en-GB" b="0" i="0" dirty="0" err="1">
                <a:solidFill>
                  <a:srgbClr val="000000"/>
                </a:solidFill>
                <a:effectLst/>
                <a:latin typeface="Segoe UI" panose="020B0502040204020203" pitchFamily="34" charset="0"/>
              </a:rPr>
              <a:t>packets.module</a:t>
            </a:r>
            <a:r>
              <a:rPr lang="en-GB" b="0" i="0" dirty="0">
                <a:solidFill>
                  <a:srgbClr val="000000"/>
                </a:solidFill>
                <a:effectLst/>
                <a:latin typeface="Segoe UI" panose="020B0502040204020203" pitchFamily="34" charset="0"/>
              </a:rPr>
              <a:t> to detect them.</a:t>
            </a:r>
          </a:p>
          <a:p>
            <a:endParaRPr lang="en-GB" dirty="0"/>
          </a:p>
          <a:p>
            <a:r>
              <a:rPr lang="en-GB" b="1" i="0" dirty="0" err="1">
                <a:solidFill>
                  <a:srgbClr val="000000"/>
                </a:solidFill>
                <a:effectLst/>
                <a:latin typeface="Segoe UI" panose="020B0502040204020203" pitchFamily="34" charset="0"/>
              </a:rPr>
              <a:t>arp.spoof.internal</a:t>
            </a:r>
            <a:r>
              <a:rPr lang="en-GB" b="1" i="0" dirty="0">
                <a:solidFill>
                  <a:srgbClr val="000000"/>
                </a:solidFill>
                <a:effectLst/>
                <a:latin typeface="Segoe UI" panose="020B0502040204020203" pitchFamily="34" charset="0"/>
              </a:rPr>
              <a:t> true</a:t>
            </a:r>
            <a:r>
              <a:rPr lang="en-GB" b="0" i="0" dirty="0">
                <a:solidFill>
                  <a:srgbClr val="000000"/>
                </a:solidFill>
                <a:effectLst/>
                <a:latin typeface="Segoe UI" panose="020B0502040204020203" pitchFamily="34" charset="0"/>
              </a:rPr>
              <a:t> This module spoofs the local connections among computers of the internal network.</a:t>
            </a:r>
          </a:p>
          <a:p>
            <a:r>
              <a:rPr lang="en-GB" b="1" i="0" dirty="0">
                <a:solidFill>
                  <a:srgbClr val="000000"/>
                </a:solidFill>
                <a:effectLst/>
                <a:latin typeface="Segoe UI" panose="020B0502040204020203" pitchFamily="34" charset="0"/>
              </a:rPr>
              <a:t>set </a:t>
            </a:r>
            <a:r>
              <a:rPr lang="en-GB" b="1" i="0" dirty="0" err="1">
                <a:solidFill>
                  <a:srgbClr val="000000"/>
                </a:solidFill>
                <a:effectLst/>
                <a:latin typeface="Segoe UI" panose="020B0502040204020203" pitchFamily="34" charset="0"/>
              </a:rPr>
              <a:t>arp.spoof.targets</a:t>
            </a:r>
            <a:r>
              <a:rPr lang="en-GB" b="1" i="0" dirty="0">
                <a:solidFill>
                  <a:srgbClr val="000000"/>
                </a:solidFill>
                <a:effectLst/>
                <a:latin typeface="Segoe UI" panose="020B0502040204020203" pitchFamily="34" charset="0"/>
              </a:rPr>
              <a:t> 10.10.1.11</a:t>
            </a:r>
            <a:r>
              <a:rPr lang="en-GB" b="0" i="0" dirty="0">
                <a:solidFill>
                  <a:srgbClr val="000000"/>
                </a:solidFill>
                <a:effectLst/>
                <a:latin typeface="Segoe UI" panose="020B0502040204020203" pitchFamily="34" charset="0"/>
              </a:rPr>
              <a:t>  This module spoofs the IP address of the target host.</a:t>
            </a:r>
          </a:p>
          <a:p>
            <a:r>
              <a:rPr lang="en-GB" b="1" i="0" dirty="0" err="1">
                <a:solidFill>
                  <a:srgbClr val="000000"/>
                </a:solidFill>
                <a:effectLst/>
                <a:latin typeface="Segoe UI" panose="020B0502040204020203" pitchFamily="34" charset="0"/>
              </a:rPr>
              <a:t>http.proxy</a:t>
            </a:r>
            <a:r>
              <a:rPr lang="en-GB" b="1" i="0" dirty="0">
                <a:solidFill>
                  <a:srgbClr val="000000"/>
                </a:solidFill>
                <a:effectLst/>
                <a:latin typeface="Segoe UI" panose="020B0502040204020203" pitchFamily="34" charset="0"/>
              </a:rPr>
              <a:t> on</a:t>
            </a:r>
            <a:r>
              <a:rPr lang="en-GB" b="0" i="0" dirty="0">
                <a:solidFill>
                  <a:srgbClr val="000000"/>
                </a:solidFill>
                <a:effectLst/>
                <a:latin typeface="Segoe UI" panose="020B0502040204020203" pitchFamily="34" charset="0"/>
              </a:rPr>
              <a:t> This module initiates http proxy.</a:t>
            </a:r>
            <a:endParaRPr lang="en-GB" dirty="0"/>
          </a:p>
          <a:p>
            <a:r>
              <a:rPr lang="en-GB" b="1" i="0" dirty="0" err="1">
                <a:solidFill>
                  <a:srgbClr val="000000"/>
                </a:solidFill>
                <a:effectLst/>
                <a:latin typeface="Segoe UI" panose="020B0502040204020203" pitchFamily="34" charset="0"/>
              </a:rPr>
              <a:t>arp.spoof</a:t>
            </a:r>
            <a:r>
              <a:rPr lang="en-GB" b="1" i="0" dirty="0">
                <a:solidFill>
                  <a:srgbClr val="000000"/>
                </a:solidFill>
                <a:effectLst/>
                <a:latin typeface="Segoe UI" panose="020B0502040204020203" pitchFamily="34" charset="0"/>
              </a:rPr>
              <a:t> on</a:t>
            </a:r>
            <a:r>
              <a:rPr lang="en-GB" b="0" i="0" dirty="0">
                <a:solidFill>
                  <a:srgbClr val="000000"/>
                </a:solidFill>
                <a:effectLst/>
                <a:latin typeface="Segoe UI" panose="020B0502040204020203" pitchFamily="34" charset="0"/>
              </a:rPr>
              <a:t>  This module initiates ARP spoofing.</a:t>
            </a:r>
          </a:p>
          <a:p>
            <a:r>
              <a:rPr lang="en-GB" b="1" i="0" dirty="0" err="1">
                <a:solidFill>
                  <a:srgbClr val="000000"/>
                </a:solidFill>
                <a:effectLst/>
                <a:latin typeface="Segoe UI" panose="020B0502040204020203" pitchFamily="34" charset="0"/>
              </a:rPr>
              <a:t>net.sniff</a:t>
            </a:r>
            <a:r>
              <a:rPr lang="en-GB" b="1" i="0" dirty="0">
                <a:solidFill>
                  <a:srgbClr val="000000"/>
                </a:solidFill>
                <a:effectLst/>
                <a:latin typeface="Segoe UI" panose="020B0502040204020203" pitchFamily="34" charset="0"/>
              </a:rPr>
              <a:t> on</a:t>
            </a:r>
            <a:r>
              <a:rPr lang="en-GB" b="0" i="0" dirty="0">
                <a:solidFill>
                  <a:srgbClr val="000000"/>
                </a:solidFill>
                <a:effectLst/>
                <a:latin typeface="Segoe UI" panose="020B0502040204020203" pitchFamily="34" charset="0"/>
              </a:rPr>
              <a:t> This module is responsible for performing sniffing on the network.</a:t>
            </a:r>
          </a:p>
          <a:p>
            <a:r>
              <a:rPr lang="en-GB" b="1" i="0" dirty="0">
                <a:solidFill>
                  <a:srgbClr val="000000"/>
                </a:solidFill>
                <a:effectLst/>
                <a:latin typeface="Segoe UI" panose="020B0502040204020203" pitchFamily="34" charset="0"/>
              </a:rPr>
              <a:t>set </a:t>
            </a:r>
            <a:r>
              <a:rPr lang="en-GB" b="1" i="0" dirty="0" err="1">
                <a:solidFill>
                  <a:srgbClr val="000000"/>
                </a:solidFill>
                <a:effectLst/>
                <a:latin typeface="Segoe UI" panose="020B0502040204020203" pitchFamily="34" charset="0"/>
              </a:rPr>
              <a:t>net.sniff.regexp</a:t>
            </a:r>
            <a:r>
              <a:rPr lang="en-GB" b="1" i="0" dirty="0">
                <a:solidFill>
                  <a:srgbClr val="000000"/>
                </a:solidFill>
                <a:effectLst/>
                <a:latin typeface="Segoe UI" panose="020B0502040204020203" pitchFamily="34" charset="0"/>
              </a:rPr>
              <a:t> ‘.*password=.+’</a:t>
            </a:r>
            <a:r>
              <a:rPr lang="en-GB" b="0" i="0" dirty="0">
                <a:solidFill>
                  <a:srgbClr val="000000"/>
                </a:solidFill>
                <a:effectLst/>
                <a:latin typeface="Segoe UI" panose="020B0502040204020203" pitchFamily="34" charset="0"/>
              </a:rPr>
              <a:t> and press </a:t>
            </a:r>
            <a:r>
              <a:rPr lang="en-GB" b="1" i="0" dirty="0">
                <a:solidFill>
                  <a:srgbClr val="000000"/>
                </a:solidFill>
                <a:effectLst/>
                <a:latin typeface="Segoe UI" panose="020B0502040204020203" pitchFamily="34" charset="0"/>
              </a:rPr>
              <a:t>Enter</a:t>
            </a:r>
            <a:r>
              <a:rPr lang="en-GB" b="0" i="0" dirty="0">
                <a:solidFill>
                  <a:srgbClr val="000000"/>
                </a:solidFill>
                <a:effectLst/>
                <a:latin typeface="Segoe UI" panose="020B0502040204020203" pitchFamily="34" charset="0"/>
              </a:rPr>
              <a:t>. This module will only consider the packets sent with a payload matching the given regular expression (in this case, </a:t>
            </a:r>
            <a:r>
              <a:rPr lang="en-GB" b="1" i="0" dirty="0">
                <a:solidFill>
                  <a:srgbClr val="000000"/>
                </a:solidFill>
                <a:effectLst/>
                <a:latin typeface="Segoe UI" panose="020B0502040204020203" pitchFamily="34" charset="0"/>
              </a:rPr>
              <a:t>‘.*password=.+’</a:t>
            </a:r>
            <a:r>
              <a:rPr lang="en-GB" b="0" i="0" dirty="0">
                <a:solidFill>
                  <a:srgbClr val="000000"/>
                </a:solidFill>
                <a:effectLst/>
                <a:latin typeface="Segoe UI" panose="020B0502040204020203" pitchFamily="34" charset="0"/>
              </a:rPr>
              <a:t>).</a:t>
            </a:r>
            <a:endParaRPr lang="en-GB" dirty="0"/>
          </a:p>
        </p:txBody>
      </p:sp>
      <p:sp>
        <p:nvSpPr>
          <p:cNvPr id="4" name="Slide Number Placeholder 3"/>
          <p:cNvSpPr>
            <a:spLocks noGrp="1"/>
          </p:cNvSpPr>
          <p:nvPr>
            <p:ph type="sldNum" sz="quarter" idx="5"/>
          </p:nvPr>
        </p:nvSpPr>
        <p:spPr/>
        <p:txBody>
          <a:bodyPr/>
          <a:lstStyle/>
          <a:p>
            <a:fld id="{249050BC-A0A7-4191-89ED-64ED1B34DC37}" type="slidenum">
              <a:rPr lang="en-GB" smtClean="0"/>
              <a:t>10</a:t>
            </a:fld>
            <a:endParaRPr lang="en-GB"/>
          </a:p>
        </p:txBody>
      </p:sp>
    </p:spTree>
    <p:extLst>
      <p:ext uri="{BB962C8B-B14F-4D97-AF65-F5344CB8AC3E}">
        <p14:creationId xmlns:p14="http://schemas.microsoft.com/office/powerpoint/2010/main" val="35588462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bettercap</a:t>
            </a:r>
            <a:r>
              <a:rPr lang="en-GB" dirty="0"/>
              <a:t> collects all http logins used by routers, servers, and websites that do not have SSL enabled. In this task, we are using www.moviescope.com for demonstration purposes, as it is http-based. To use </a:t>
            </a:r>
            <a:r>
              <a:rPr lang="en-GB" dirty="0" err="1"/>
              <a:t>bettercap</a:t>
            </a:r>
            <a:r>
              <a:rPr lang="en-GB" dirty="0"/>
              <a:t> to sniff network traffic from https-based websites, you must enable the SSL strip module by issuing the command set </a:t>
            </a:r>
            <a:r>
              <a:rPr lang="en-GB" dirty="0" err="1"/>
              <a:t>http.proxy.sslstrip</a:t>
            </a:r>
            <a:r>
              <a:rPr lang="en-GB" dirty="0"/>
              <a:t> true.</a:t>
            </a:r>
          </a:p>
          <a:p>
            <a:r>
              <a:rPr lang="en-GB" dirty="0"/>
              <a:t>SSL stripping is a type of man-in-the-middle (MITM) attack that downgrades a secure HTTPS connection to an insecure HTTP connection. It exploits the process by which a website transitions from HTTP to HTTPS, allowing an attacker to intercept and manipulate the communication between a user and a website.</a:t>
            </a:r>
          </a:p>
          <a:p>
            <a:r>
              <a:rPr lang="en-GB" dirty="0"/>
              <a:t>Here’s how it typically works:</a:t>
            </a:r>
          </a:p>
          <a:p>
            <a:pPr>
              <a:buFont typeface="+mj-lt"/>
              <a:buAutoNum type="arabicPeriod"/>
            </a:pPr>
            <a:r>
              <a:rPr lang="en-GB" b="1" dirty="0"/>
              <a:t>User Request</a:t>
            </a:r>
            <a:r>
              <a:rPr lang="en-GB" dirty="0"/>
              <a:t>: A user attempts to connect to a website using an HTTPS connection.</a:t>
            </a:r>
          </a:p>
          <a:p>
            <a:pPr>
              <a:buFont typeface="+mj-lt"/>
              <a:buAutoNum type="arabicPeriod"/>
            </a:pPr>
            <a:r>
              <a:rPr lang="en-GB" b="1" dirty="0"/>
              <a:t>Attacker Interception</a:t>
            </a:r>
            <a:r>
              <a:rPr lang="en-GB" dirty="0"/>
              <a:t>: The attacker, using tools like </a:t>
            </a:r>
            <a:r>
              <a:rPr lang="en-GB" dirty="0" err="1"/>
              <a:t>Bettercap</a:t>
            </a:r>
            <a:r>
              <a:rPr lang="en-GB" dirty="0"/>
              <a:t>, intercepts this request and prevents the user from upgrading the connection to HTTPS.</a:t>
            </a:r>
          </a:p>
          <a:p>
            <a:pPr>
              <a:buFont typeface="+mj-lt"/>
              <a:buAutoNum type="arabicPeriod"/>
            </a:pPr>
            <a:r>
              <a:rPr lang="en-GB" b="1" dirty="0"/>
              <a:t>HTTP Downgrade</a:t>
            </a:r>
            <a:r>
              <a:rPr lang="en-GB" dirty="0"/>
              <a:t>: The attacker sends the user a downgraded version of the website over an unencrypted HTTP connection instead of the secure HTTPS.</a:t>
            </a:r>
          </a:p>
          <a:p>
            <a:pPr>
              <a:buFont typeface="+mj-lt"/>
              <a:buAutoNum type="arabicPeriod"/>
            </a:pPr>
            <a:r>
              <a:rPr lang="en-GB" b="1" dirty="0"/>
              <a:t>Data Interception</a:t>
            </a:r>
            <a:r>
              <a:rPr lang="en-GB" dirty="0"/>
              <a:t>: Since the connection is now in plain text (HTTP), the attacker can view, modify, or steal sensitive data like usernames, passwords, and other personal information transmitted by the user.</a:t>
            </a:r>
          </a:p>
          <a:p>
            <a:r>
              <a:rPr lang="en-GB" dirty="0"/>
              <a:t>This attack is effective against websites that are not properly enforcing strict HTTPS policies, such as HTTP Strict Transport Security (HSTS). SSL stripping shows how vulnerable unencrypted connections are and emphasizes the importance of ensuring websites always use HTTPS to protect sensitive data.</a:t>
            </a:r>
          </a:p>
          <a:p>
            <a:endParaRPr lang="en-GB" dirty="0"/>
          </a:p>
          <a:p>
            <a:endParaRPr lang="en-GB" dirty="0"/>
          </a:p>
          <a:p>
            <a:r>
              <a:rPr lang="en-GB" dirty="0"/>
              <a:t>How does using </a:t>
            </a:r>
            <a:r>
              <a:rPr lang="en-GB" dirty="0" err="1"/>
              <a:t>Bettercap</a:t>
            </a:r>
            <a:r>
              <a:rPr lang="en-GB" dirty="0"/>
              <a:t> to sniff HTTP traffic and capture unencrypted data, such as passwords, highlight the vulnerabilities of websites not properly enforcing strict HTTPS policies, such as HTTP Strict Transport Security (HSTS). , and why is it critical for web applications to implement proper encryption protocols?</a:t>
            </a:r>
          </a:p>
        </p:txBody>
      </p:sp>
      <p:sp>
        <p:nvSpPr>
          <p:cNvPr id="4" name="Slide Number Placeholder 3"/>
          <p:cNvSpPr>
            <a:spLocks noGrp="1"/>
          </p:cNvSpPr>
          <p:nvPr>
            <p:ph type="sldNum" sz="quarter" idx="5"/>
          </p:nvPr>
        </p:nvSpPr>
        <p:spPr/>
        <p:txBody>
          <a:bodyPr/>
          <a:lstStyle/>
          <a:p>
            <a:fld id="{249050BC-A0A7-4191-89ED-64ED1B34DC37}" type="slidenum">
              <a:rPr lang="en-GB" smtClean="0"/>
              <a:t>11</a:t>
            </a:fld>
            <a:endParaRPr lang="en-GB"/>
          </a:p>
        </p:txBody>
      </p:sp>
    </p:spTree>
    <p:extLst>
      <p:ext uri="{BB962C8B-B14F-4D97-AF65-F5344CB8AC3E}">
        <p14:creationId xmlns:p14="http://schemas.microsoft.com/office/powerpoint/2010/main" val="7441029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000000"/>
                </a:solidFill>
                <a:effectLst/>
                <a:latin typeface="Segoe UI" panose="020B0502040204020203" pitchFamily="34" charset="0"/>
              </a:rPr>
              <a:t>Hetty is an HTTP toolkit for security research. It aims to become an open-source alternative to commercial software such as Burp Suite Pro, with powerful features tailored to the needs of the InfoSec and bug bounty communities. Hetty can be used to perform Machine-in-the-middle (MITM) attack, manually create/edit requests, and replay proxied requests for HTTP clients and further intercept requests and responses for manual review.</a:t>
            </a:r>
          </a:p>
          <a:p>
            <a:pPr algn="l"/>
            <a:r>
              <a:rPr lang="en-GB" b="0" i="0" dirty="0">
                <a:solidFill>
                  <a:srgbClr val="000000"/>
                </a:solidFill>
                <a:effectLst/>
                <a:latin typeface="Segoe UI" panose="020B0502040204020203" pitchFamily="34" charset="0"/>
              </a:rPr>
              <a:t>Here, we will use the Hetty tool to intercept HTTP traffic on the target system.</a:t>
            </a:r>
          </a:p>
          <a:p>
            <a:endParaRPr lang="en-GB" dirty="0"/>
          </a:p>
        </p:txBody>
      </p:sp>
      <p:sp>
        <p:nvSpPr>
          <p:cNvPr id="4" name="Slide Number Placeholder 3"/>
          <p:cNvSpPr>
            <a:spLocks noGrp="1"/>
          </p:cNvSpPr>
          <p:nvPr>
            <p:ph type="sldNum" sz="quarter" idx="5"/>
          </p:nvPr>
        </p:nvSpPr>
        <p:spPr/>
        <p:txBody>
          <a:bodyPr/>
          <a:lstStyle/>
          <a:p>
            <a:fld id="{249050BC-A0A7-4191-89ED-64ED1B34DC37}" type="slidenum">
              <a:rPr lang="en-GB" smtClean="0"/>
              <a:t>12</a:t>
            </a:fld>
            <a:endParaRPr lang="en-GB"/>
          </a:p>
        </p:txBody>
      </p:sp>
    </p:spTree>
    <p:extLst>
      <p:ext uri="{BB962C8B-B14F-4D97-AF65-F5344CB8AC3E}">
        <p14:creationId xmlns:p14="http://schemas.microsoft.com/office/powerpoint/2010/main" val="37799514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question encourages a deeper consideration of ethical conduct in security testing and the importance of protecting personal information in the context of real-world web vulnerabilities.</a:t>
            </a:r>
          </a:p>
          <a:p>
            <a:endParaRPr lang="en-GB" dirty="0"/>
          </a:p>
          <a:p>
            <a:r>
              <a:rPr lang="en-GB" dirty="0"/>
              <a:t>"Intercepting and using captured credentials during security assessments highlights the significant ethical responsibilities held by cybersecurity professionals. This task illustrates the ease with which sensitive data can be intercepted, emphasizing the critical need for robust security measures in web applications. Ethically, it underscores the necessity for security researchers to operate within legal boundaries and with explicit permission from system owners. This practice is not only a legal requirement but also a moral obligation to ensure that their skills do not harm users or exploit systems beyond the scope of improving security.</a:t>
            </a:r>
          </a:p>
          <a:p>
            <a:r>
              <a:rPr lang="en-GB" dirty="0"/>
              <a:t>Furthermore, this task has reinforced their understanding of the importance of personal data protection in web applications. It serves as a real-world example of potential vulnerabilities that can be exploited and the consequences of insufficient security practices. By engaging in such activities in a controlled and ethical manner, they are better prepared to implement stronger security measures and advocate for privacy by design, ensuring that user data is protected against similar attacks in the future."</a:t>
            </a:r>
          </a:p>
          <a:p>
            <a:endParaRPr lang="en-GB" dirty="0"/>
          </a:p>
        </p:txBody>
      </p:sp>
      <p:sp>
        <p:nvSpPr>
          <p:cNvPr id="4" name="Slide Number Placeholder 3"/>
          <p:cNvSpPr>
            <a:spLocks noGrp="1"/>
          </p:cNvSpPr>
          <p:nvPr>
            <p:ph type="sldNum" sz="quarter" idx="5"/>
          </p:nvPr>
        </p:nvSpPr>
        <p:spPr/>
        <p:txBody>
          <a:bodyPr/>
          <a:lstStyle/>
          <a:p>
            <a:fld id="{249050BC-A0A7-4191-89ED-64ED1B34DC37}" type="slidenum">
              <a:rPr lang="en-GB" smtClean="0"/>
              <a:t>14</a:t>
            </a:fld>
            <a:endParaRPr lang="en-GB"/>
          </a:p>
        </p:txBody>
      </p:sp>
    </p:spTree>
    <p:extLst>
      <p:ext uri="{BB962C8B-B14F-4D97-AF65-F5344CB8AC3E}">
        <p14:creationId xmlns:p14="http://schemas.microsoft.com/office/powerpoint/2010/main" val="627905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71D30-9F57-862D-6CD7-217B14230B3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286F5356-EA56-13DA-D6EB-A253E7562F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97E8336-2F8D-3669-2A99-3A08D922D554}"/>
              </a:ext>
            </a:extLst>
          </p:cNvPr>
          <p:cNvSpPr>
            <a:spLocks noGrp="1"/>
          </p:cNvSpPr>
          <p:nvPr>
            <p:ph type="dt" sz="half" idx="10"/>
          </p:nvPr>
        </p:nvSpPr>
        <p:spPr/>
        <p:txBody>
          <a:bodyPr/>
          <a:lstStyle/>
          <a:p>
            <a:fld id="{ADDCCB28-F473-44CB-8936-337C81AFE314}" type="datetimeFigureOut">
              <a:rPr lang="en-GB" smtClean="0"/>
              <a:t>23/10/2024</a:t>
            </a:fld>
            <a:endParaRPr lang="en-GB"/>
          </a:p>
        </p:txBody>
      </p:sp>
      <p:sp>
        <p:nvSpPr>
          <p:cNvPr id="5" name="Footer Placeholder 4">
            <a:extLst>
              <a:ext uri="{FF2B5EF4-FFF2-40B4-BE49-F238E27FC236}">
                <a16:creationId xmlns:a16="http://schemas.microsoft.com/office/drawing/2014/main" id="{B3239AE1-295B-0770-76C9-61B5FA0A6F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45AB2D5-847C-1277-1F09-2C9DD7EAE9D0}"/>
              </a:ext>
            </a:extLst>
          </p:cNvPr>
          <p:cNvSpPr>
            <a:spLocks noGrp="1"/>
          </p:cNvSpPr>
          <p:nvPr>
            <p:ph type="sldNum" sz="quarter" idx="12"/>
          </p:nvPr>
        </p:nvSpPr>
        <p:spPr/>
        <p:txBody>
          <a:bodyPr/>
          <a:lstStyle/>
          <a:p>
            <a:fld id="{3E21C391-BD09-4DE4-86D0-F8CF853F7D6A}" type="slidenum">
              <a:rPr lang="en-GB" smtClean="0"/>
              <a:t>‹#›</a:t>
            </a:fld>
            <a:endParaRPr lang="en-GB"/>
          </a:p>
        </p:txBody>
      </p:sp>
    </p:spTree>
    <p:extLst>
      <p:ext uri="{BB962C8B-B14F-4D97-AF65-F5344CB8AC3E}">
        <p14:creationId xmlns:p14="http://schemas.microsoft.com/office/powerpoint/2010/main" val="227665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9DAC8-8000-7B93-3B4B-241EA3B2C8AC}"/>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79C6F5B5-519A-5DD2-F78E-539D5DEE775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531F02D-D057-4EB5-0641-5461F0AA877D}"/>
              </a:ext>
            </a:extLst>
          </p:cNvPr>
          <p:cNvSpPr>
            <a:spLocks noGrp="1"/>
          </p:cNvSpPr>
          <p:nvPr>
            <p:ph type="dt" sz="half" idx="10"/>
          </p:nvPr>
        </p:nvSpPr>
        <p:spPr/>
        <p:txBody>
          <a:bodyPr/>
          <a:lstStyle/>
          <a:p>
            <a:fld id="{ADDCCB28-F473-44CB-8936-337C81AFE314}" type="datetimeFigureOut">
              <a:rPr lang="en-GB" smtClean="0"/>
              <a:t>23/10/2024</a:t>
            </a:fld>
            <a:endParaRPr lang="en-GB"/>
          </a:p>
        </p:txBody>
      </p:sp>
      <p:sp>
        <p:nvSpPr>
          <p:cNvPr id="5" name="Footer Placeholder 4">
            <a:extLst>
              <a:ext uri="{FF2B5EF4-FFF2-40B4-BE49-F238E27FC236}">
                <a16:creationId xmlns:a16="http://schemas.microsoft.com/office/drawing/2014/main" id="{B5044876-C529-2029-E0BF-0A886EA2AB1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A2EAB08-9D35-6BA2-CE79-674888FF89C9}"/>
              </a:ext>
            </a:extLst>
          </p:cNvPr>
          <p:cNvSpPr>
            <a:spLocks noGrp="1"/>
          </p:cNvSpPr>
          <p:nvPr>
            <p:ph type="sldNum" sz="quarter" idx="12"/>
          </p:nvPr>
        </p:nvSpPr>
        <p:spPr/>
        <p:txBody>
          <a:bodyPr/>
          <a:lstStyle/>
          <a:p>
            <a:fld id="{3E21C391-BD09-4DE4-86D0-F8CF853F7D6A}" type="slidenum">
              <a:rPr lang="en-GB" smtClean="0"/>
              <a:t>‹#›</a:t>
            </a:fld>
            <a:endParaRPr lang="en-GB"/>
          </a:p>
        </p:txBody>
      </p:sp>
    </p:spTree>
    <p:extLst>
      <p:ext uri="{BB962C8B-B14F-4D97-AF65-F5344CB8AC3E}">
        <p14:creationId xmlns:p14="http://schemas.microsoft.com/office/powerpoint/2010/main" val="809097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3F49C-14A6-7E54-14C1-1DC5BDB34BA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C3EA5353-0BF4-BF27-A162-738D5B4F85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6B0B56E-D8A6-9EE0-7E1F-43BF813EC005}"/>
              </a:ext>
            </a:extLst>
          </p:cNvPr>
          <p:cNvSpPr>
            <a:spLocks noGrp="1"/>
          </p:cNvSpPr>
          <p:nvPr>
            <p:ph type="dt" sz="half" idx="10"/>
          </p:nvPr>
        </p:nvSpPr>
        <p:spPr/>
        <p:txBody>
          <a:bodyPr/>
          <a:lstStyle/>
          <a:p>
            <a:fld id="{ADDCCB28-F473-44CB-8936-337C81AFE314}" type="datetimeFigureOut">
              <a:rPr lang="en-GB" smtClean="0"/>
              <a:t>23/10/2024</a:t>
            </a:fld>
            <a:endParaRPr lang="en-GB"/>
          </a:p>
        </p:txBody>
      </p:sp>
      <p:sp>
        <p:nvSpPr>
          <p:cNvPr id="5" name="Footer Placeholder 4">
            <a:extLst>
              <a:ext uri="{FF2B5EF4-FFF2-40B4-BE49-F238E27FC236}">
                <a16:creationId xmlns:a16="http://schemas.microsoft.com/office/drawing/2014/main" id="{A477C878-3A62-7A19-1FF9-0F07395CFCD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C8907E0-641F-C8EB-F9D2-B45327FA3B3D}"/>
              </a:ext>
            </a:extLst>
          </p:cNvPr>
          <p:cNvSpPr>
            <a:spLocks noGrp="1"/>
          </p:cNvSpPr>
          <p:nvPr>
            <p:ph type="sldNum" sz="quarter" idx="12"/>
          </p:nvPr>
        </p:nvSpPr>
        <p:spPr/>
        <p:txBody>
          <a:bodyPr/>
          <a:lstStyle/>
          <a:p>
            <a:fld id="{3E21C391-BD09-4DE4-86D0-F8CF853F7D6A}" type="slidenum">
              <a:rPr lang="en-GB" smtClean="0"/>
              <a:t>‹#›</a:t>
            </a:fld>
            <a:endParaRPr lang="en-GB"/>
          </a:p>
        </p:txBody>
      </p:sp>
    </p:spTree>
    <p:extLst>
      <p:ext uri="{BB962C8B-B14F-4D97-AF65-F5344CB8AC3E}">
        <p14:creationId xmlns:p14="http://schemas.microsoft.com/office/powerpoint/2010/main" val="3289694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62D85-F443-23A7-931F-F4FCFE85906E}"/>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FA9DF72-F4C6-0F9C-AE22-E162C20CFF9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43492C0B-0525-D4A5-399C-397BB060C98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692E1570-4DD4-33C7-6EF4-22B967CDCEE5}"/>
              </a:ext>
            </a:extLst>
          </p:cNvPr>
          <p:cNvSpPr>
            <a:spLocks noGrp="1"/>
          </p:cNvSpPr>
          <p:nvPr>
            <p:ph type="dt" sz="half" idx="10"/>
          </p:nvPr>
        </p:nvSpPr>
        <p:spPr/>
        <p:txBody>
          <a:bodyPr/>
          <a:lstStyle/>
          <a:p>
            <a:fld id="{ADDCCB28-F473-44CB-8936-337C81AFE314}" type="datetimeFigureOut">
              <a:rPr lang="en-GB" smtClean="0"/>
              <a:t>23/10/2024</a:t>
            </a:fld>
            <a:endParaRPr lang="en-GB"/>
          </a:p>
        </p:txBody>
      </p:sp>
      <p:sp>
        <p:nvSpPr>
          <p:cNvPr id="6" name="Footer Placeholder 5">
            <a:extLst>
              <a:ext uri="{FF2B5EF4-FFF2-40B4-BE49-F238E27FC236}">
                <a16:creationId xmlns:a16="http://schemas.microsoft.com/office/drawing/2014/main" id="{DD616B48-806A-183A-0049-3CF3379E84A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ADF0A10-8C3B-1972-8DDB-68895FEC677E}"/>
              </a:ext>
            </a:extLst>
          </p:cNvPr>
          <p:cNvSpPr>
            <a:spLocks noGrp="1"/>
          </p:cNvSpPr>
          <p:nvPr>
            <p:ph type="sldNum" sz="quarter" idx="12"/>
          </p:nvPr>
        </p:nvSpPr>
        <p:spPr/>
        <p:txBody>
          <a:bodyPr/>
          <a:lstStyle/>
          <a:p>
            <a:fld id="{3E21C391-BD09-4DE4-86D0-F8CF853F7D6A}" type="slidenum">
              <a:rPr lang="en-GB" smtClean="0"/>
              <a:t>‹#›</a:t>
            </a:fld>
            <a:endParaRPr lang="en-GB"/>
          </a:p>
        </p:txBody>
      </p:sp>
    </p:spTree>
    <p:extLst>
      <p:ext uri="{BB962C8B-B14F-4D97-AF65-F5344CB8AC3E}">
        <p14:creationId xmlns:p14="http://schemas.microsoft.com/office/powerpoint/2010/main" val="1033556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42892-22F0-9F98-72F8-3C1713C0A9B4}"/>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0D183023-D97C-41F6-4127-031B22FF29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7F4567B-698E-EB59-AFFB-B9B36EB1914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534486DE-9E6A-BEE0-8C8B-6073A32097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7F7603F-9FEB-637E-7E5C-1E617752022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5AD31268-647C-8294-0508-813A334A8DC1}"/>
              </a:ext>
            </a:extLst>
          </p:cNvPr>
          <p:cNvSpPr>
            <a:spLocks noGrp="1"/>
          </p:cNvSpPr>
          <p:nvPr>
            <p:ph type="dt" sz="half" idx="10"/>
          </p:nvPr>
        </p:nvSpPr>
        <p:spPr/>
        <p:txBody>
          <a:bodyPr/>
          <a:lstStyle/>
          <a:p>
            <a:fld id="{ADDCCB28-F473-44CB-8936-337C81AFE314}" type="datetimeFigureOut">
              <a:rPr lang="en-GB" smtClean="0"/>
              <a:t>23/10/2024</a:t>
            </a:fld>
            <a:endParaRPr lang="en-GB"/>
          </a:p>
        </p:txBody>
      </p:sp>
      <p:sp>
        <p:nvSpPr>
          <p:cNvPr id="8" name="Footer Placeholder 7">
            <a:extLst>
              <a:ext uri="{FF2B5EF4-FFF2-40B4-BE49-F238E27FC236}">
                <a16:creationId xmlns:a16="http://schemas.microsoft.com/office/drawing/2014/main" id="{6339B126-D1C1-A87F-BB79-EC1A28C25EF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2F87982-E6DE-9FC4-29CA-76FE9140FF13}"/>
              </a:ext>
            </a:extLst>
          </p:cNvPr>
          <p:cNvSpPr>
            <a:spLocks noGrp="1"/>
          </p:cNvSpPr>
          <p:nvPr>
            <p:ph type="sldNum" sz="quarter" idx="12"/>
          </p:nvPr>
        </p:nvSpPr>
        <p:spPr/>
        <p:txBody>
          <a:bodyPr/>
          <a:lstStyle/>
          <a:p>
            <a:fld id="{3E21C391-BD09-4DE4-86D0-F8CF853F7D6A}" type="slidenum">
              <a:rPr lang="en-GB" smtClean="0"/>
              <a:t>‹#›</a:t>
            </a:fld>
            <a:endParaRPr lang="en-GB"/>
          </a:p>
        </p:txBody>
      </p:sp>
    </p:spTree>
    <p:extLst>
      <p:ext uri="{BB962C8B-B14F-4D97-AF65-F5344CB8AC3E}">
        <p14:creationId xmlns:p14="http://schemas.microsoft.com/office/powerpoint/2010/main" val="3120478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30785-4CDE-99FD-CF60-CD3E05035542}"/>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1543D34E-46C6-C295-F338-313EB6637EAE}"/>
              </a:ext>
            </a:extLst>
          </p:cNvPr>
          <p:cNvSpPr>
            <a:spLocks noGrp="1"/>
          </p:cNvSpPr>
          <p:nvPr>
            <p:ph type="dt" sz="half" idx="10"/>
          </p:nvPr>
        </p:nvSpPr>
        <p:spPr/>
        <p:txBody>
          <a:bodyPr/>
          <a:lstStyle/>
          <a:p>
            <a:fld id="{ADDCCB28-F473-44CB-8936-337C81AFE314}" type="datetimeFigureOut">
              <a:rPr lang="en-GB" smtClean="0"/>
              <a:t>23/10/2024</a:t>
            </a:fld>
            <a:endParaRPr lang="en-GB"/>
          </a:p>
        </p:txBody>
      </p:sp>
      <p:sp>
        <p:nvSpPr>
          <p:cNvPr id="4" name="Footer Placeholder 3">
            <a:extLst>
              <a:ext uri="{FF2B5EF4-FFF2-40B4-BE49-F238E27FC236}">
                <a16:creationId xmlns:a16="http://schemas.microsoft.com/office/drawing/2014/main" id="{BD286CF7-BFF3-FDA7-0CC4-200BB457A97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566AD26-A089-CE51-249B-DFE411D6EE65}"/>
              </a:ext>
            </a:extLst>
          </p:cNvPr>
          <p:cNvSpPr>
            <a:spLocks noGrp="1"/>
          </p:cNvSpPr>
          <p:nvPr>
            <p:ph type="sldNum" sz="quarter" idx="12"/>
          </p:nvPr>
        </p:nvSpPr>
        <p:spPr/>
        <p:txBody>
          <a:bodyPr/>
          <a:lstStyle/>
          <a:p>
            <a:fld id="{3E21C391-BD09-4DE4-86D0-F8CF853F7D6A}" type="slidenum">
              <a:rPr lang="en-GB" smtClean="0"/>
              <a:t>‹#›</a:t>
            </a:fld>
            <a:endParaRPr lang="en-GB"/>
          </a:p>
        </p:txBody>
      </p:sp>
    </p:spTree>
    <p:extLst>
      <p:ext uri="{BB962C8B-B14F-4D97-AF65-F5344CB8AC3E}">
        <p14:creationId xmlns:p14="http://schemas.microsoft.com/office/powerpoint/2010/main" val="4123571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3DDEDB-F590-E7D6-31FC-8223475B8430}"/>
              </a:ext>
            </a:extLst>
          </p:cNvPr>
          <p:cNvSpPr>
            <a:spLocks noGrp="1"/>
          </p:cNvSpPr>
          <p:nvPr>
            <p:ph type="dt" sz="half" idx="10"/>
          </p:nvPr>
        </p:nvSpPr>
        <p:spPr/>
        <p:txBody>
          <a:bodyPr/>
          <a:lstStyle/>
          <a:p>
            <a:fld id="{ADDCCB28-F473-44CB-8936-337C81AFE314}" type="datetimeFigureOut">
              <a:rPr lang="en-GB" smtClean="0"/>
              <a:t>23/10/2024</a:t>
            </a:fld>
            <a:endParaRPr lang="en-GB"/>
          </a:p>
        </p:txBody>
      </p:sp>
      <p:sp>
        <p:nvSpPr>
          <p:cNvPr id="3" name="Footer Placeholder 2">
            <a:extLst>
              <a:ext uri="{FF2B5EF4-FFF2-40B4-BE49-F238E27FC236}">
                <a16:creationId xmlns:a16="http://schemas.microsoft.com/office/drawing/2014/main" id="{D8EED778-8524-210C-B868-18ADF8BBB0E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6BAA947-3C72-7DE6-1DD1-7FBCFDA5462B}"/>
              </a:ext>
            </a:extLst>
          </p:cNvPr>
          <p:cNvSpPr>
            <a:spLocks noGrp="1"/>
          </p:cNvSpPr>
          <p:nvPr>
            <p:ph type="sldNum" sz="quarter" idx="12"/>
          </p:nvPr>
        </p:nvSpPr>
        <p:spPr/>
        <p:txBody>
          <a:bodyPr/>
          <a:lstStyle/>
          <a:p>
            <a:fld id="{3E21C391-BD09-4DE4-86D0-F8CF853F7D6A}" type="slidenum">
              <a:rPr lang="en-GB" smtClean="0"/>
              <a:t>‹#›</a:t>
            </a:fld>
            <a:endParaRPr lang="en-GB"/>
          </a:p>
        </p:txBody>
      </p:sp>
    </p:spTree>
    <p:extLst>
      <p:ext uri="{BB962C8B-B14F-4D97-AF65-F5344CB8AC3E}">
        <p14:creationId xmlns:p14="http://schemas.microsoft.com/office/powerpoint/2010/main" val="1903377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3765D-A685-8F04-B4E1-6AF3DEB82BD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7AC120F9-FC4A-D432-5377-07B2B858B2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C3898B76-23FE-9973-D32B-A7001DFA47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B0BB763-74E9-8530-C6E6-E10F3C5C2FA3}"/>
              </a:ext>
            </a:extLst>
          </p:cNvPr>
          <p:cNvSpPr>
            <a:spLocks noGrp="1"/>
          </p:cNvSpPr>
          <p:nvPr>
            <p:ph type="dt" sz="half" idx="10"/>
          </p:nvPr>
        </p:nvSpPr>
        <p:spPr/>
        <p:txBody>
          <a:bodyPr/>
          <a:lstStyle/>
          <a:p>
            <a:fld id="{ADDCCB28-F473-44CB-8936-337C81AFE314}" type="datetimeFigureOut">
              <a:rPr lang="en-GB" smtClean="0"/>
              <a:t>23/10/2024</a:t>
            </a:fld>
            <a:endParaRPr lang="en-GB"/>
          </a:p>
        </p:txBody>
      </p:sp>
      <p:sp>
        <p:nvSpPr>
          <p:cNvPr id="6" name="Footer Placeholder 5">
            <a:extLst>
              <a:ext uri="{FF2B5EF4-FFF2-40B4-BE49-F238E27FC236}">
                <a16:creationId xmlns:a16="http://schemas.microsoft.com/office/drawing/2014/main" id="{54C3A368-0904-C2EB-5543-5B51C0AF70B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9399820-1336-7489-3DA4-C9A2BFDEB094}"/>
              </a:ext>
            </a:extLst>
          </p:cNvPr>
          <p:cNvSpPr>
            <a:spLocks noGrp="1"/>
          </p:cNvSpPr>
          <p:nvPr>
            <p:ph type="sldNum" sz="quarter" idx="12"/>
          </p:nvPr>
        </p:nvSpPr>
        <p:spPr/>
        <p:txBody>
          <a:bodyPr/>
          <a:lstStyle/>
          <a:p>
            <a:fld id="{3E21C391-BD09-4DE4-86D0-F8CF853F7D6A}" type="slidenum">
              <a:rPr lang="en-GB" smtClean="0"/>
              <a:t>‹#›</a:t>
            </a:fld>
            <a:endParaRPr lang="en-GB"/>
          </a:p>
        </p:txBody>
      </p:sp>
    </p:spTree>
    <p:extLst>
      <p:ext uri="{BB962C8B-B14F-4D97-AF65-F5344CB8AC3E}">
        <p14:creationId xmlns:p14="http://schemas.microsoft.com/office/powerpoint/2010/main" val="2867890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6F9A3-CD64-46FD-BEB0-9097B05D5BF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25DC47E8-B303-1FAF-4C20-9313ED9D7B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2324CFE-B7D5-85EC-F8FF-5972916D31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F1B762C-39D3-E380-C186-992903569361}"/>
              </a:ext>
            </a:extLst>
          </p:cNvPr>
          <p:cNvSpPr>
            <a:spLocks noGrp="1"/>
          </p:cNvSpPr>
          <p:nvPr>
            <p:ph type="dt" sz="half" idx="10"/>
          </p:nvPr>
        </p:nvSpPr>
        <p:spPr/>
        <p:txBody>
          <a:bodyPr/>
          <a:lstStyle/>
          <a:p>
            <a:fld id="{ADDCCB28-F473-44CB-8936-337C81AFE314}" type="datetimeFigureOut">
              <a:rPr lang="en-GB" smtClean="0"/>
              <a:t>23/10/2024</a:t>
            </a:fld>
            <a:endParaRPr lang="en-GB"/>
          </a:p>
        </p:txBody>
      </p:sp>
      <p:sp>
        <p:nvSpPr>
          <p:cNvPr id="6" name="Footer Placeholder 5">
            <a:extLst>
              <a:ext uri="{FF2B5EF4-FFF2-40B4-BE49-F238E27FC236}">
                <a16:creationId xmlns:a16="http://schemas.microsoft.com/office/drawing/2014/main" id="{D7D6DBD4-14AD-2A19-025D-CE9828FC3D7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80CC7F8-6972-5EDD-E7AB-0ECFC0E25CA6}"/>
              </a:ext>
            </a:extLst>
          </p:cNvPr>
          <p:cNvSpPr>
            <a:spLocks noGrp="1"/>
          </p:cNvSpPr>
          <p:nvPr>
            <p:ph type="sldNum" sz="quarter" idx="12"/>
          </p:nvPr>
        </p:nvSpPr>
        <p:spPr/>
        <p:txBody>
          <a:bodyPr/>
          <a:lstStyle/>
          <a:p>
            <a:fld id="{3E21C391-BD09-4DE4-86D0-F8CF853F7D6A}" type="slidenum">
              <a:rPr lang="en-GB" smtClean="0"/>
              <a:t>‹#›</a:t>
            </a:fld>
            <a:endParaRPr lang="en-GB"/>
          </a:p>
        </p:txBody>
      </p:sp>
    </p:spTree>
    <p:extLst>
      <p:ext uri="{BB962C8B-B14F-4D97-AF65-F5344CB8AC3E}">
        <p14:creationId xmlns:p14="http://schemas.microsoft.com/office/powerpoint/2010/main" val="3655156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F0AFD-4C70-DCDD-87AC-AFC5A58475FF}"/>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5CDBC5A4-F04D-36AF-3103-A46D55463DC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1D594E9-EF60-ACD5-6CB4-067ABF574446}"/>
              </a:ext>
            </a:extLst>
          </p:cNvPr>
          <p:cNvSpPr>
            <a:spLocks noGrp="1"/>
          </p:cNvSpPr>
          <p:nvPr>
            <p:ph type="dt" sz="half" idx="10"/>
          </p:nvPr>
        </p:nvSpPr>
        <p:spPr/>
        <p:txBody>
          <a:bodyPr/>
          <a:lstStyle/>
          <a:p>
            <a:fld id="{ADDCCB28-F473-44CB-8936-337C81AFE314}" type="datetimeFigureOut">
              <a:rPr lang="en-GB" smtClean="0"/>
              <a:t>23/10/2024</a:t>
            </a:fld>
            <a:endParaRPr lang="en-GB"/>
          </a:p>
        </p:txBody>
      </p:sp>
      <p:sp>
        <p:nvSpPr>
          <p:cNvPr id="5" name="Footer Placeholder 4">
            <a:extLst>
              <a:ext uri="{FF2B5EF4-FFF2-40B4-BE49-F238E27FC236}">
                <a16:creationId xmlns:a16="http://schemas.microsoft.com/office/drawing/2014/main" id="{1E76BFCC-98E5-3CE2-122E-A169DC27881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E93E312-9174-17CF-E50C-AFD2B133CB6E}"/>
              </a:ext>
            </a:extLst>
          </p:cNvPr>
          <p:cNvSpPr>
            <a:spLocks noGrp="1"/>
          </p:cNvSpPr>
          <p:nvPr>
            <p:ph type="sldNum" sz="quarter" idx="12"/>
          </p:nvPr>
        </p:nvSpPr>
        <p:spPr/>
        <p:txBody>
          <a:bodyPr/>
          <a:lstStyle/>
          <a:p>
            <a:fld id="{3E21C391-BD09-4DE4-86D0-F8CF853F7D6A}" type="slidenum">
              <a:rPr lang="en-GB" smtClean="0"/>
              <a:t>‹#›</a:t>
            </a:fld>
            <a:endParaRPr lang="en-GB"/>
          </a:p>
        </p:txBody>
      </p:sp>
    </p:spTree>
    <p:extLst>
      <p:ext uri="{BB962C8B-B14F-4D97-AF65-F5344CB8AC3E}">
        <p14:creationId xmlns:p14="http://schemas.microsoft.com/office/powerpoint/2010/main" val="774604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B0BC6B-118D-9B33-0E83-8496CE4B9CFF}"/>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09B7AF21-C6E6-84C3-573C-2B8678B546B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681CEC5-9302-3A17-0D08-70AC0F468716}"/>
              </a:ext>
            </a:extLst>
          </p:cNvPr>
          <p:cNvSpPr>
            <a:spLocks noGrp="1"/>
          </p:cNvSpPr>
          <p:nvPr>
            <p:ph type="dt" sz="half" idx="10"/>
          </p:nvPr>
        </p:nvSpPr>
        <p:spPr/>
        <p:txBody>
          <a:bodyPr/>
          <a:lstStyle/>
          <a:p>
            <a:fld id="{ADDCCB28-F473-44CB-8936-337C81AFE314}" type="datetimeFigureOut">
              <a:rPr lang="en-GB" smtClean="0"/>
              <a:t>23/10/2024</a:t>
            </a:fld>
            <a:endParaRPr lang="en-GB"/>
          </a:p>
        </p:txBody>
      </p:sp>
      <p:sp>
        <p:nvSpPr>
          <p:cNvPr id="5" name="Footer Placeholder 4">
            <a:extLst>
              <a:ext uri="{FF2B5EF4-FFF2-40B4-BE49-F238E27FC236}">
                <a16:creationId xmlns:a16="http://schemas.microsoft.com/office/drawing/2014/main" id="{4B36C956-F977-C509-7B75-4BDD22712A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6D79E2B-DA30-F371-100F-CFA51CD637B5}"/>
              </a:ext>
            </a:extLst>
          </p:cNvPr>
          <p:cNvSpPr>
            <a:spLocks noGrp="1"/>
          </p:cNvSpPr>
          <p:nvPr>
            <p:ph type="sldNum" sz="quarter" idx="12"/>
          </p:nvPr>
        </p:nvSpPr>
        <p:spPr/>
        <p:txBody>
          <a:bodyPr/>
          <a:lstStyle/>
          <a:p>
            <a:fld id="{3E21C391-BD09-4DE4-86D0-F8CF853F7D6A}" type="slidenum">
              <a:rPr lang="en-GB" smtClean="0"/>
              <a:t>‹#›</a:t>
            </a:fld>
            <a:endParaRPr lang="en-GB"/>
          </a:p>
        </p:txBody>
      </p:sp>
    </p:spTree>
    <p:extLst>
      <p:ext uri="{BB962C8B-B14F-4D97-AF65-F5344CB8AC3E}">
        <p14:creationId xmlns:p14="http://schemas.microsoft.com/office/powerpoint/2010/main" val="2307354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4984B3-78CC-F0A1-98C4-7849BC1D2E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A58DE6A0-FAF1-E52E-8381-BD1FD41189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985B1F3-9298-74BE-D81F-5F641825E5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DDCCB28-F473-44CB-8936-337C81AFE314}" type="datetimeFigureOut">
              <a:rPr lang="en-GB" smtClean="0"/>
              <a:t>23/10/2024</a:t>
            </a:fld>
            <a:endParaRPr lang="en-GB"/>
          </a:p>
        </p:txBody>
      </p:sp>
      <p:sp>
        <p:nvSpPr>
          <p:cNvPr id="5" name="Footer Placeholder 4">
            <a:extLst>
              <a:ext uri="{FF2B5EF4-FFF2-40B4-BE49-F238E27FC236}">
                <a16:creationId xmlns:a16="http://schemas.microsoft.com/office/drawing/2014/main" id="{EE9F0BE1-B2B3-3730-8324-601A30779A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3805831-9F36-9821-B412-63D6A872D7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21C391-BD09-4DE4-86D0-F8CF853F7D6A}" type="slidenum">
              <a:rPr lang="en-GB" smtClean="0"/>
              <a:t>‹#›</a:t>
            </a:fld>
            <a:endParaRPr lang="en-GB"/>
          </a:p>
        </p:txBody>
      </p:sp>
    </p:spTree>
    <p:extLst>
      <p:ext uri="{BB962C8B-B14F-4D97-AF65-F5344CB8AC3E}">
        <p14:creationId xmlns:p14="http://schemas.microsoft.com/office/powerpoint/2010/main" val="35610676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D98FD-FE5D-A3D6-E489-556ADAEF6A2B}"/>
              </a:ext>
            </a:extLst>
          </p:cNvPr>
          <p:cNvSpPr>
            <a:spLocks noGrp="1"/>
          </p:cNvSpPr>
          <p:nvPr>
            <p:ph type="ctrTitle"/>
          </p:nvPr>
        </p:nvSpPr>
        <p:spPr/>
        <p:txBody>
          <a:bodyPr>
            <a:normAutofit/>
          </a:bodyPr>
          <a:lstStyle/>
          <a:p>
            <a:r>
              <a:rPr lang="en-GB" dirty="0"/>
              <a:t>COM521 Ethical Hacking and Pen testing – Labs</a:t>
            </a:r>
          </a:p>
        </p:txBody>
      </p:sp>
      <p:sp>
        <p:nvSpPr>
          <p:cNvPr id="3" name="Subtitle 2">
            <a:extLst>
              <a:ext uri="{FF2B5EF4-FFF2-40B4-BE49-F238E27FC236}">
                <a16:creationId xmlns:a16="http://schemas.microsoft.com/office/drawing/2014/main" id="{34FE9A10-C0C0-4A13-C46D-B37AAD065F23}"/>
              </a:ext>
            </a:extLst>
          </p:cNvPr>
          <p:cNvSpPr>
            <a:spLocks noGrp="1"/>
          </p:cNvSpPr>
          <p:nvPr>
            <p:ph type="subTitle" idx="1"/>
          </p:nvPr>
        </p:nvSpPr>
        <p:spPr/>
        <p:txBody>
          <a:bodyPr/>
          <a:lstStyle/>
          <a:p>
            <a:r>
              <a:rPr lang="en-GB" dirty="0"/>
              <a:t>CEH v12  Session Hijacking</a:t>
            </a:r>
          </a:p>
        </p:txBody>
      </p:sp>
    </p:spTree>
    <p:extLst>
      <p:ext uri="{BB962C8B-B14F-4D97-AF65-F5344CB8AC3E}">
        <p14:creationId xmlns:p14="http://schemas.microsoft.com/office/powerpoint/2010/main" val="3756490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04C65-F122-898C-8C7A-3DFDE5EDAE4D}"/>
              </a:ext>
            </a:extLst>
          </p:cNvPr>
          <p:cNvSpPr>
            <a:spLocks noGrp="1"/>
          </p:cNvSpPr>
          <p:nvPr>
            <p:ph type="title"/>
          </p:nvPr>
        </p:nvSpPr>
        <p:spPr/>
        <p:txBody>
          <a:bodyPr/>
          <a:lstStyle/>
          <a:p>
            <a:r>
              <a:rPr lang="en-GB" dirty="0"/>
              <a:t>Session Hijacking</a:t>
            </a:r>
          </a:p>
        </p:txBody>
      </p:sp>
      <p:sp>
        <p:nvSpPr>
          <p:cNvPr id="3" name="Content Placeholder 2">
            <a:extLst>
              <a:ext uri="{FF2B5EF4-FFF2-40B4-BE49-F238E27FC236}">
                <a16:creationId xmlns:a16="http://schemas.microsoft.com/office/drawing/2014/main" id="{2B0E030F-F3A6-948A-2F6E-9C11EF929C64}"/>
              </a:ext>
            </a:extLst>
          </p:cNvPr>
          <p:cNvSpPr>
            <a:spLocks noGrp="1"/>
          </p:cNvSpPr>
          <p:nvPr>
            <p:ph idx="1"/>
          </p:nvPr>
        </p:nvSpPr>
        <p:spPr/>
        <p:txBody>
          <a:bodyPr>
            <a:normAutofit fontScale="77500" lnSpcReduction="20000"/>
          </a:bodyPr>
          <a:lstStyle/>
          <a:p>
            <a:pPr algn="l"/>
            <a:r>
              <a:rPr lang="en-GB" b="0" i="0" dirty="0">
                <a:solidFill>
                  <a:srgbClr val="000000"/>
                </a:solidFill>
                <a:effectLst/>
                <a:latin typeface="Segoe UI" panose="020B0502040204020203" pitchFamily="34" charset="0"/>
              </a:rPr>
              <a:t>Session hijacking allows an attacker to take over an active session by bypassing the authentication process. It involves stealing or guessing a victim’s valid session ID, which the server uses to identify authenticated users, and using it to establish a connection with the server. The server responds to the attacker’s requests as though it were communicating with an authenticated user, after which the attacker is able to perform any action on that system.</a:t>
            </a:r>
          </a:p>
          <a:p>
            <a:pPr algn="l"/>
            <a:r>
              <a:rPr lang="en-GB" b="0" i="0" dirty="0">
                <a:solidFill>
                  <a:srgbClr val="000000"/>
                </a:solidFill>
                <a:effectLst/>
                <a:latin typeface="Segoe UI" panose="020B0502040204020203" pitchFamily="34" charset="0"/>
              </a:rPr>
              <a:t>Attackers can use session hijacking to launch various kinds of attacks such as man-in-the-middle (MITM) and Denial-of-Service (DoS) attacks. A MITM attack occurs when an attacker places himself/herself between the authorized client and the server to intercept information flowing in either direction. A DoS attack happens when attackers sniff sensitive information and use it to make host or network resource unavailable to users, usually by flooding the target with requests until the system is overloaded.</a:t>
            </a:r>
          </a:p>
          <a:p>
            <a:pPr algn="l"/>
            <a:r>
              <a:rPr lang="en-GB" b="0" i="0" dirty="0">
                <a:solidFill>
                  <a:srgbClr val="000000"/>
                </a:solidFill>
                <a:effectLst/>
                <a:latin typeface="Segoe UI" panose="020B0502040204020203" pitchFamily="34" charset="0"/>
              </a:rPr>
              <a:t>As a professional ethical hacker or penetration tester, you must possess the required knowledge to hijack sessions in order to test the systems in the target network.</a:t>
            </a:r>
          </a:p>
          <a:p>
            <a:endParaRPr lang="en-GB" dirty="0"/>
          </a:p>
        </p:txBody>
      </p:sp>
    </p:spTree>
    <p:extLst>
      <p:ext uri="{BB962C8B-B14F-4D97-AF65-F5344CB8AC3E}">
        <p14:creationId xmlns:p14="http://schemas.microsoft.com/office/powerpoint/2010/main" val="1034740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F4EDF-5894-E747-3FC9-F5EB1F6D6349}"/>
              </a:ext>
            </a:extLst>
          </p:cNvPr>
          <p:cNvSpPr>
            <a:spLocks noGrp="1"/>
          </p:cNvSpPr>
          <p:nvPr>
            <p:ph type="title"/>
          </p:nvPr>
        </p:nvSpPr>
        <p:spPr/>
        <p:txBody>
          <a:bodyPr/>
          <a:lstStyle/>
          <a:p>
            <a:r>
              <a:rPr lang="en-GB" b="1" i="0" dirty="0">
                <a:solidFill>
                  <a:srgbClr val="000000"/>
                </a:solidFill>
                <a:effectLst/>
                <a:latin typeface="Segoe UI" panose="020B0502040204020203" pitchFamily="34" charset="0"/>
              </a:rPr>
              <a:t>Overview of Session Hijacking</a:t>
            </a:r>
            <a:br>
              <a:rPr lang="en-GB" b="0" i="0" dirty="0">
                <a:solidFill>
                  <a:srgbClr val="000000"/>
                </a:solidFill>
                <a:effectLst/>
                <a:latin typeface="Segoe UI" panose="020B0502040204020203" pitchFamily="34" charset="0"/>
              </a:rPr>
            </a:br>
            <a:endParaRPr lang="en-GB" dirty="0"/>
          </a:p>
        </p:txBody>
      </p:sp>
      <p:sp>
        <p:nvSpPr>
          <p:cNvPr id="3" name="Content Placeholder 2">
            <a:extLst>
              <a:ext uri="{FF2B5EF4-FFF2-40B4-BE49-F238E27FC236}">
                <a16:creationId xmlns:a16="http://schemas.microsoft.com/office/drawing/2014/main" id="{D34A1728-8E77-B52F-09EB-169F31ED73E7}"/>
              </a:ext>
            </a:extLst>
          </p:cNvPr>
          <p:cNvSpPr>
            <a:spLocks noGrp="1"/>
          </p:cNvSpPr>
          <p:nvPr>
            <p:ph idx="1"/>
          </p:nvPr>
        </p:nvSpPr>
        <p:spPr/>
        <p:txBody>
          <a:bodyPr>
            <a:normAutofit fontScale="85000" lnSpcReduction="20000"/>
          </a:bodyPr>
          <a:lstStyle/>
          <a:p>
            <a:pPr algn="l"/>
            <a:r>
              <a:rPr lang="en-GB" b="1" i="0" dirty="0">
                <a:solidFill>
                  <a:srgbClr val="000000"/>
                </a:solidFill>
                <a:effectLst/>
                <a:latin typeface="Segoe UI" panose="020B0502040204020203" pitchFamily="34" charset="0"/>
              </a:rPr>
              <a:t>Overview of Session Hijacking</a:t>
            </a:r>
            <a:endParaRPr lang="en-GB" b="0" i="0" dirty="0">
              <a:solidFill>
                <a:srgbClr val="000000"/>
              </a:solidFill>
              <a:effectLst/>
              <a:latin typeface="Segoe UI" panose="020B0502040204020203" pitchFamily="34" charset="0"/>
            </a:endParaRPr>
          </a:p>
          <a:p>
            <a:pPr algn="l"/>
            <a:r>
              <a:rPr lang="en-GB" b="0" i="0" dirty="0">
                <a:solidFill>
                  <a:srgbClr val="000000"/>
                </a:solidFill>
                <a:effectLst/>
                <a:latin typeface="Segoe UI" panose="020B0502040204020203" pitchFamily="34" charset="0"/>
              </a:rPr>
              <a:t>Session hijacking can be divided into three broad phases:</a:t>
            </a:r>
          </a:p>
          <a:p>
            <a:pPr algn="l">
              <a:buFont typeface="Arial" panose="020B0604020202020204" pitchFamily="34" charset="0"/>
              <a:buChar char="•"/>
            </a:pPr>
            <a:r>
              <a:rPr lang="en-GB" b="1" i="0" dirty="0">
                <a:solidFill>
                  <a:srgbClr val="000000"/>
                </a:solidFill>
                <a:effectLst/>
                <a:latin typeface="Segoe UI" panose="020B0502040204020203" pitchFamily="34" charset="0"/>
              </a:rPr>
              <a:t>Tracking the Connection</a:t>
            </a:r>
            <a:r>
              <a:rPr lang="en-GB" b="0" i="0" dirty="0">
                <a:solidFill>
                  <a:srgbClr val="000000"/>
                </a:solidFill>
                <a:effectLst/>
                <a:latin typeface="Segoe UI" panose="020B0502040204020203" pitchFamily="34" charset="0"/>
              </a:rPr>
              <a:t>: The attacker uses a network sniffer to track a victim and host, or uses a tool such as Nmap to scan the network for a target with a TCP sequence that is easy to predict</a:t>
            </a:r>
          </a:p>
          <a:p>
            <a:pPr algn="l">
              <a:buFont typeface="Arial" panose="020B0604020202020204" pitchFamily="34" charset="0"/>
              <a:buChar char="•"/>
            </a:pPr>
            <a:r>
              <a:rPr lang="en-GB" b="1" i="0" dirty="0">
                <a:solidFill>
                  <a:srgbClr val="000000"/>
                </a:solidFill>
                <a:effectLst/>
                <a:latin typeface="Segoe UI" panose="020B0502040204020203" pitchFamily="34" charset="0"/>
              </a:rPr>
              <a:t>Desynchronizing the Connection</a:t>
            </a:r>
            <a:r>
              <a:rPr lang="en-GB" b="0" i="0" dirty="0">
                <a:solidFill>
                  <a:srgbClr val="000000"/>
                </a:solidFill>
                <a:effectLst/>
                <a:latin typeface="Segoe UI" panose="020B0502040204020203" pitchFamily="34" charset="0"/>
              </a:rPr>
              <a:t>: A desynchronized state occurs when a connection between the target and host has been established, or is stable with no data transmission, or when the server’s sequence number is not equal to the client’s acknowledgment number (or vice versa)</a:t>
            </a:r>
          </a:p>
          <a:p>
            <a:pPr algn="l">
              <a:buFont typeface="Arial" panose="020B0604020202020204" pitchFamily="34" charset="0"/>
              <a:buChar char="•"/>
            </a:pPr>
            <a:r>
              <a:rPr lang="en-GB" b="1" i="0" dirty="0">
                <a:solidFill>
                  <a:srgbClr val="000000"/>
                </a:solidFill>
                <a:effectLst/>
                <a:latin typeface="Segoe UI" panose="020B0502040204020203" pitchFamily="34" charset="0"/>
              </a:rPr>
              <a:t>Injecting the Attacker’s Packet</a:t>
            </a:r>
            <a:r>
              <a:rPr lang="en-GB" b="0" i="0" dirty="0">
                <a:solidFill>
                  <a:srgbClr val="000000"/>
                </a:solidFill>
                <a:effectLst/>
                <a:latin typeface="Segoe UI" panose="020B0502040204020203" pitchFamily="34" charset="0"/>
              </a:rPr>
              <a:t>: Once the attacker has interrupted the connection between the server and target, they can either inject data into the network or actively participate as the man-in-the-middle, passing data between the target and server, while reading and injecting data at will</a:t>
            </a:r>
          </a:p>
          <a:p>
            <a:endParaRPr lang="en-GB" dirty="0"/>
          </a:p>
        </p:txBody>
      </p:sp>
    </p:spTree>
    <p:extLst>
      <p:ext uri="{BB962C8B-B14F-4D97-AF65-F5344CB8AC3E}">
        <p14:creationId xmlns:p14="http://schemas.microsoft.com/office/powerpoint/2010/main" val="1479213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FE96C-6729-9CC3-197F-9149D4A87F04}"/>
              </a:ext>
            </a:extLst>
          </p:cNvPr>
          <p:cNvSpPr>
            <a:spLocks noGrp="1"/>
          </p:cNvSpPr>
          <p:nvPr>
            <p:ph type="title"/>
          </p:nvPr>
        </p:nvSpPr>
        <p:spPr/>
        <p:txBody>
          <a:bodyPr/>
          <a:lstStyle/>
          <a:p>
            <a:r>
              <a:rPr lang="en-GB" dirty="0">
                <a:solidFill>
                  <a:srgbClr val="000000"/>
                </a:solidFill>
                <a:latin typeface="Segoe UI" panose="020B0502040204020203" pitchFamily="34" charset="0"/>
              </a:rPr>
              <a:t>Activities</a:t>
            </a:r>
            <a:r>
              <a:rPr lang="en-GB" b="0" i="0" dirty="0">
                <a:solidFill>
                  <a:srgbClr val="000000"/>
                </a:solidFill>
                <a:effectLst/>
                <a:latin typeface="Segoe UI" panose="020B0502040204020203" pitchFamily="34" charset="0"/>
              </a:rPr>
              <a:t>: Perform Session Hijacking</a:t>
            </a:r>
            <a:br>
              <a:rPr lang="en-GB" b="0" i="0" dirty="0">
                <a:solidFill>
                  <a:srgbClr val="000000"/>
                </a:solidFill>
                <a:effectLst/>
                <a:latin typeface="Segoe UI" panose="020B0502040204020203" pitchFamily="34" charset="0"/>
              </a:rPr>
            </a:br>
            <a:endParaRPr lang="en-GB" dirty="0"/>
          </a:p>
        </p:txBody>
      </p:sp>
      <p:sp>
        <p:nvSpPr>
          <p:cNvPr id="3" name="Content Placeholder 2">
            <a:extLst>
              <a:ext uri="{FF2B5EF4-FFF2-40B4-BE49-F238E27FC236}">
                <a16:creationId xmlns:a16="http://schemas.microsoft.com/office/drawing/2014/main" id="{2C8D6B45-CE44-FF36-00AE-4C488931EBC3}"/>
              </a:ext>
            </a:extLst>
          </p:cNvPr>
          <p:cNvSpPr>
            <a:spLocks noGrp="1"/>
          </p:cNvSpPr>
          <p:nvPr>
            <p:ph idx="1"/>
          </p:nvPr>
        </p:nvSpPr>
        <p:spPr/>
        <p:txBody>
          <a:bodyPr/>
          <a:lstStyle/>
          <a:p>
            <a:pPr marL="0" indent="0" algn="l">
              <a:buNone/>
            </a:pPr>
            <a:r>
              <a:rPr lang="en-GB" b="0" i="0" dirty="0">
                <a:solidFill>
                  <a:srgbClr val="6B6B6B"/>
                </a:solidFill>
                <a:effectLst/>
                <a:latin typeface="Segoe UI" panose="020B0502040204020203" pitchFamily="34" charset="0"/>
              </a:rPr>
              <a:t>(Expected Duration 1 hours, 20 minutes)</a:t>
            </a:r>
            <a:endParaRPr lang="en-GB" b="0" i="0" dirty="0">
              <a:solidFill>
                <a:srgbClr val="000000"/>
              </a:solidFill>
              <a:effectLst/>
              <a:latin typeface="Segoe UI" panose="020B0502040204020203" pitchFamily="34" charset="0"/>
            </a:endParaRPr>
          </a:p>
          <a:p>
            <a:pPr algn="l">
              <a:buFont typeface="Arial" panose="020B0604020202020204" pitchFamily="34" charset="0"/>
              <a:buChar char="•"/>
            </a:pPr>
            <a:r>
              <a:rPr lang="en-GB" b="0" i="0" dirty="0">
                <a:solidFill>
                  <a:srgbClr val="000000"/>
                </a:solidFill>
                <a:effectLst/>
                <a:latin typeface="Segoe UI" panose="020B0502040204020203" pitchFamily="34" charset="0"/>
              </a:rPr>
              <a:t>Hijack a session using Zed Attack Proxy (ZAP)</a:t>
            </a:r>
          </a:p>
          <a:p>
            <a:pPr algn="l">
              <a:buFont typeface="Arial" panose="020B0604020202020204" pitchFamily="34" charset="0"/>
              <a:buChar char="•"/>
            </a:pPr>
            <a:r>
              <a:rPr lang="en-GB" b="0" i="0" dirty="0">
                <a:solidFill>
                  <a:srgbClr val="000000"/>
                </a:solidFill>
                <a:effectLst/>
                <a:latin typeface="Segoe UI" panose="020B0502040204020203" pitchFamily="34" charset="0"/>
              </a:rPr>
              <a:t>Intercept HTTP traffic using </a:t>
            </a:r>
            <a:r>
              <a:rPr lang="en-GB" b="0" i="0" dirty="0" err="1">
                <a:solidFill>
                  <a:srgbClr val="000000"/>
                </a:solidFill>
                <a:effectLst/>
                <a:latin typeface="Segoe UI" panose="020B0502040204020203" pitchFamily="34" charset="0"/>
              </a:rPr>
              <a:t>bettercap</a:t>
            </a:r>
            <a:endParaRPr lang="en-GB" b="0" i="0" dirty="0">
              <a:solidFill>
                <a:srgbClr val="000000"/>
              </a:solidFill>
              <a:effectLst/>
              <a:latin typeface="Segoe UI" panose="020B0502040204020203" pitchFamily="34" charset="0"/>
            </a:endParaRPr>
          </a:p>
          <a:p>
            <a:pPr algn="l">
              <a:buFont typeface="Arial" panose="020B0604020202020204" pitchFamily="34" charset="0"/>
              <a:buChar char="•"/>
            </a:pPr>
            <a:r>
              <a:rPr lang="en-GB" b="0" i="0" dirty="0">
                <a:solidFill>
                  <a:srgbClr val="000000"/>
                </a:solidFill>
                <a:effectLst/>
                <a:latin typeface="Segoe UI" panose="020B0502040204020203" pitchFamily="34" charset="0"/>
              </a:rPr>
              <a:t>Intercept HTTP traffic using Hetty</a:t>
            </a:r>
          </a:p>
          <a:p>
            <a:endParaRPr lang="en-GB" dirty="0"/>
          </a:p>
        </p:txBody>
      </p:sp>
    </p:spTree>
    <p:extLst>
      <p:ext uri="{BB962C8B-B14F-4D97-AF65-F5344CB8AC3E}">
        <p14:creationId xmlns:p14="http://schemas.microsoft.com/office/powerpoint/2010/main" val="1760828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E1EBE-C0F2-789A-D6F6-B75065061DBD}"/>
              </a:ext>
            </a:extLst>
          </p:cNvPr>
          <p:cNvSpPr>
            <a:spLocks noGrp="1"/>
          </p:cNvSpPr>
          <p:nvPr>
            <p:ph type="title"/>
          </p:nvPr>
        </p:nvSpPr>
        <p:spPr/>
        <p:txBody>
          <a:bodyPr/>
          <a:lstStyle/>
          <a:p>
            <a:r>
              <a:rPr lang="en-GB" b="0" i="0" dirty="0">
                <a:solidFill>
                  <a:srgbClr val="000000"/>
                </a:solidFill>
                <a:effectLst/>
                <a:latin typeface="Segoe UI" panose="020B0502040204020203" pitchFamily="34" charset="0"/>
              </a:rPr>
              <a:t>Zed Attack Proxy (ZAP)</a:t>
            </a:r>
            <a:endParaRPr lang="en-GB" dirty="0"/>
          </a:p>
        </p:txBody>
      </p:sp>
      <p:pic>
        <p:nvPicPr>
          <p:cNvPr id="6" name="Picture Placeholder 5">
            <a:extLst>
              <a:ext uri="{FF2B5EF4-FFF2-40B4-BE49-F238E27FC236}">
                <a16:creationId xmlns:a16="http://schemas.microsoft.com/office/drawing/2014/main" id="{05328D66-1194-4A49-9424-3D9773BB96FA}"/>
              </a:ext>
            </a:extLst>
          </p:cNvPr>
          <p:cNvPicPr>
            <a:picLocks noGrp="1" noChangeAspect="1"/>
          </p:cNvPicPr>
          <p:nvPr>
            <p:ph type="pic" idx="1"/>
          </p:nvPr>
        </p:nvPicPr>
        <p:blipFill>
          <a:blip r:embed="rId3"/>
          <a:srcRect t="1023" b="1023"/>
          <a:stretch/>
        </p:blipFill>
        <p:spPr/>
      </p:pic>
      <p:sp>
        <p:nvSpPr>
          <p:cNvPr id="4" name="Text Placeholder 3">
            <a:extLst>
              <a:ext uri="{FF2B5EF4-FFF2-40B4-BE49-F238E27FC236}">
                <a16:creationId xmlns:a16="http://schemas.microsoft.com/office/drawing/2014/main" id="{B69381AA-5352-B8AC-4051-86778ACEE65B}"/>
              </a:ext>
            </a:extLst>
          </p:cNvPr>
          <p:cNvSpPr>
            <a:spLocks noGrp="1"/>
          </p:cNvSpPr>
          <p:nvPr>
            <p:ph type="body" sz="half" idx="2"/>
          </p:nvPr>
        </p:nvSpPr>
        <p:spPr/>
        <p:txBody>
          <a:bodyPr/>
          <a:lstStyle/>
          <a:p>
            <a:r>
              <a:rPr lang="en-GB" b="0" i="0" dirty="0">
                <a:solidFill>
                  <a:srgbClr val="000000"/>
                </a:solidFill>
                <a:effectLst/>
                <a:latin typeface="Segoe UI" panose="020B0502040204020203" pitchFamily="34" charset="0"/>
              </a:rPr>
              <a:t>Zed Attack Proxy (ZAP) is an integrated penetration testing tool for finding vulnerabilities in web applications. It offers automated scanners as well as a set of tools that allow you to find security vulnerabilities manually. It is designed to be used by people with a wide range of security experience, and as such is ideal for developers and functional testers who are new to penetration testing.</a:t>
            </a:r>
            <a:endParaRPr lang="en-GB" dirty="0"/>
          </a:p>
          <a:p>
            <a:endParaRPr lang="en-GB" dirty="0"/>
          </a:p>
        </p:txBody>
      </p:sp>
    </p:spTree>
    <p:extLst>
      <p:ext uri="{BB962C8B-B14F-4D97-AF65-F5344CB8AC3E}">
        <p14:creationId xmlns:p14="http://schemas.microsoft.com/office/powerpoint/2010/main" val="2862568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098DF-0C86-CE0E-6685-72A940919440}"/>
              </a:ext>
            </a:extLst>
          </p:cNvPr>
          <p:cNvSpPr>
            <a:spLocks noGrp="1"/>
          </p:cNvSpPr>
          <p:nvPr>
            <p:ph type="title"/>
          </p:nvPr>
        </p:nvSpPr>
        <p:spPr>
          <a:xfrm>
            <a:off x="838200" y="365126"/>
            <a:ext cx="10515600" cy="802194"/>
          </a:xfrm>
        </p:spPr>
        <p:txBody>
          <a:bodyPr/>
          <a:lstStyle/>
          <a:p>
            <a:r>
              <a:rPr lang="en-GB" dirty="0"/>
              <a:t>Tasks</a:t>
            </a:r>
          </a:p>
        </p:txBody>
      </p:sp>
      <p:sp>
        <p:nvSpPr>
          <p:cNvPr id="3" name="Content Placeholder 2">
            <a:extLst>
              <a:ext uri="{FF2B5EF4-FFF2-40B4-BE49-F238E27FC236}">
                <a16:creationId xmlns:a16="http://schemas.microsoft.com/office/drawing/2014/main" id="{8534A888-48A2-D2AD-51B4-20239599F080}"/>
              </a:ext>
            </a:extLst>
          </p:cNvPr>
          <p:cNvSpPr>
            <a:spLocks noGrp="1"/>
          </p:cNvSpPr>
          <p:nvPr>
            <p:ph idx="1"/>
          </p:nvPr>
        </p:nvSpPr>
        <p:spPr>
          <a:xfrm>
            <a:off x="838200" y="1167320"/>
            <a:ext cx="10515600" cy="5009643"/>
          </a:xfrm>
        </p:spPr>
        <p:txBody>
          <a:bodyPr>
            <a:normAutofit fontScale="92500" lnSpcReduction="10000"/>
          </a:bodyPr>
          <a:lstStyle/>
          <a:p>
            <a:r>
              <a:rPr lang="en-GB" b="0" i="0" dirty="0">
                <a:solidFill>
                  <a:srgbClr val="000000"/>
                </a:solidFill>
                <a:effectLst/>
                <a:latin typeface="Segoe UI" panose="020B0502040204020203" pitchFamily="34" charset="0"/>
              </a:rPr>
              <a:t> Configure the proxy settings in the victim’s machine, which in this task will be the </a:t>
            </a:r>
            <a:r>
              <a:rPr lang="en-GB" b="1" i="0" dirty="0">
                <a:solidFill>
                  <a:srgbClr val="000000"/>
                </a:solidFill>
                <a:effectLst/>
                <a:latin typeface="Segoe UI" panose="020B0502040204020203" pitchFamily="34" charset="0"/>
              </a:rPr>
              <a:t>Windows 11</a:t>
            </a:r>
            <a:r>
              <a:rPr lang="en-GB" b="0" i="0" dirty="0">
                <a:solidFill>
                  <a:srgbClr val="000000"/>
                </a:solidFill>
                <a:effectLst/>
                <a:latin typeface="Segoe UI" panose="020B0502040204020203" pitchFamily="34" charset="0"/>
              </a:rPr>
              <a:t> machine</a:t>
            </a:r>
          </a:p>
          <a:p>
            <a:r>
              <a:rPr lang="en-GB" dirty="0">
                <a:solidFill>
                  <a:srgbClr val="000000"/>
                </a:solidFill>
                <a:latin typeface="Segoe UI" panose="020B0502040204020203" pitchFamily="34" charset="0"/>
              </a:rPr>
              <a:t>Run ZAP proxy in Windows 2019</a:t>
            </a:r>
          </a:p>
          <a:p>
            <a:r>
              <a:rPr lang="en-GB" b="0" i="0" dirty="0">
                <a:solidFill>
                  <a:srgbClr val="000000"/>
                </a:solidFill>
                <a:effectLst/>
                <a:latin typeface="Segoe UI" panose="020B0502040204020203" pitchFamily="34" charset="0"/>
              </a:rPr>
              <a:t>Click on the “</a:t>
            </a:r>
            <a:r>
              <a:rPr lang="en-GB" b="1" i="0" dirty="0">
                <a:solidFill>
                  <a:srgbClr val="000000"/>
                </a:solidFill>
                <a:effectLst/>
                <a:latin typeface="Segoe UI" panose="020B0502040204020203" pitchFamily="34" charset="0"/>
              </a:rPr>
              <a:t>+</a:t>
            </a:r>
            <a:r>
              <a:rPr lang="en-GB" b="0" i="0" dirty="0">
                <a:solidFill>
                  <a:srgbClr val="000000"/>
                </a:solidFill>
                <a:effectLst/>
                <a:latin typeface="Segoe UI" panose="020B0502040204020203" pitchFamily="34" charset="0"/>
              </a:rPr>
              <a:t>” icon in the right pane and select </a:t>
            </a:r>
            <a:r>
              <a:rPr lang="en-GB" b="1" i="0" dirty="0">
                <a:solidFill>
                  <a:srgbClr val="000000"/>
                </a:solidFill>
                <a:effectLst/>
                <a:latin typeface="Segoe UI" panose="020B0502040204020203" pitchFamily="34" charset="0"/>
              </a:rPr>
              <a:t>Break</a:t>
            </a:r>
            <a:r>
              <a:rPr lang="en-GB" b="0" i="0" dirty="0">
                <a:solidFill>
                  <a:srgbClr val="000000"/>
                </a:solidFill>
                <a:effectLst/>
                <a:latin typeface="Segoe UI" panose="020B0502040204020203" pitchFamily="34" charset="0"/>
              </a:rPr>
              <a:t> from the options.</a:t>
            </a:r>
          </a:p>
          <a:p>
            <a:pPr algn="l"/>
            <a:r>
              <a:rPr lang="en-GB" b="0" i="0" dirty="0">
                <a:solidFill>
                  <a:srgbClr val="000000"/>
                </a:solidFill>
                <a:effectLst/>
                <a:latin typeface="Segoe UI" panose="020B0502040204020203" pitchFamily="34" charset="0"/>
              </a:rPr>
              <a:t>The </a:t>
            </a:r>
            <a:r>
              <a:rPr lang="en-GB" b="1" i="0" dirty="0">
                <a:solidFill>
                  <a:srgbClr val="000000"/>
                </a:solidFill>
                <a:effectLst/>
                <a:latin typeface="Segoe UI" panose="020B0502040204020203" pitchFamily="34" charset="0"/>
              </a:rPr>
              <a:t>Break</a:t>
            </a:r>
            <a:r>
              <a:rPr lang="en-GB" b="0" i="0" dirty="0">
                <a:solidFill>
                  <a:srgbClr val="000000"/>
                </a:solidFill>
                <a:effectLst/>
                <a:latin typeface="Segoe UI" panose="020B0502040204020203" pitchFamily="34" charset="0"/>
              </a:rPr>
              <a:t> tab allows you to modify a response or request when ZAP has caught it. It also allows you to modify certain elements that you cannot modify through your browser, including:</a:t>
            </a:r>
          </a:p>
          <a:p>
            <a:pPr algn="l">
              <a:buFont typeface="Arial" panose="020B0604020202020204" pitchFamily="34" charset="0"/>
              <a:buChar char="•"/>
            </a:pPr>
            <a:r>
              <a:rPr lang="en-GB" b="0" i="0" dirty="0">
                <a:solidFill>
                  <a:srgbClr val="000000"/>
                </a:solidFill>
                <a:effectLst/>
                <a:latin typeface="Segoe UI" panose="020B0502040204020203" pitchFamily="34" charset="0"/>
              </a:rPr>
              <a:t>The header</a:t>
            </a:r>
          </a:p>
          <a:p>
            <a:pPr algn="l">
              <a:buFont typeface="Arial" panose="020B0604020202020204" pitchFamily="34" charset="0"/>
              <a:buChar char="•"/>
            </a:pPr>
            <a:r>
              <a:rPr lang="en-GB" b="0" i="0" dirty="0">
                <a:solidFill>
                  <a:srgbClr val="000000"/>
                </a:solidFill>
                <a:effectLst/>
                <a:latin typeface="Segoe UI" panose="020B0502040204020203" pitchFamily="34" charset="0"/>
              </a:rPr>
              <a:t>Hidden fields</a:t>
            </a:r>
          </a:p>
          <a:p>
            <a:pPr algn="l">
              <a:buFont typeface="Arial" panose="020B0604020202020204" pitchFamily="34" charset="0"/>
              <a:buChar char="•"/>
            </a:pPr>
            <a:r>
              <a:rPr lang="en-GB" b="0" i="0" dirty="0">
                <a:solidFill>
                  <a:srgbClr val="000000"/>
                </a:solidFill>
                <a:effectLst/>
                <a:latin typeface="Segoe UI" panose="020B0502040204020203" pitchFamily="34" charset="0"/>
              </a:rPr>
              <a:t>Disabled fields</a:t>
            </a:r>
          </a:p>
          <a:p>
            <a:pPr algn="l">
              <a:buFont typeface="Arial" panose="020B0604020202020204" pitchFamily="34" charset="0"/>
              <a:buChar char="•"/>
            </a:pPr>
            <a:r>
              <a:rPr lang="en-GB" b="0" i="0" dirty="0">
                <a:solidFill>
                  <a:srgbClr val="000000"/>
                </a:solidFill>
                <a:effectLst/>
                <a:latin typeface="Segoe UI" panose="020B0502040204020203" pitchFamily="34" charset="0"/>
              </a:rPr>
              <a:t>Fields that use JavaScript to filter out illegal characters</a:t>
            </a:r>
          </a:p>
          <a:p>
            <a:endParaRPr lang="en-GB" dirty="0"/>
          </a:p>
        </p:txBody>
      </p:sp>
    </p:spTree>
    <p:extLst>
      <p:ext uri="{BB962C8B-B14F-4D97-AF65-F5344CB8AC3E}">
        <p14:creationId xmlns:p14="http://schemas.microsoft.com/office/powerpoint/2010/main" val="134262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D0D74-DAB6-2DFA-A92F-0F8138F1CD2A}"/>
              </a:ext>
            </a:extLst>
          </p:cNvPr>
          <p:cNvSpPr>
            <a:spLocks noGrp="1"/>
          </p:cNvSpPr>
          <p:nvPr>
            <p:ph type="title"/>
          </p:nvPr>
        </p:nvSpPr>
        <p:spPr>
          <a:xfrm>
            <a:off x="838200" y="365125"/>
            <a:ext cx="10515600" cy="782739"/>
          </a:xfrm>
        </p:spPr>
        <p:txBody>
          <a:bodyPr/>
          <a:lstStyle/>
          <a:p>
            <a:r>
              <a:rPr lang="en-GB" dirty="0"/>
              <a:t>Tasks (Continued)</a:t>
            </a:r>
          </a:p>
        </p:txBody>
      </p:sp>
      <p:sp>
        <p:nvSpPr>
          <p:cNvPr id="3" name="Content Placeholder 2">
            <a:extLst>
              <a:ext uri="{FF2B5EF4-FFF2-40B4-BE49-F238E27FC236}">
                <a16:creationId xmlns:a16="http://schemas.microsoft.com/office/drawing/2014/main" id="{C66B0546-4378-5D38-5308-54B4E3654E4F}"/>
              </a:ext>
            </a:extLst>
          </p:cNvPr>
          <p:cNvSpPr>
            <a:spLocks noGrp="1"/>
          </p:cNvSpPr>
          <p:nvPr>
            <p:ph idx="1"/>
          </p:nvPr>
        </p:nvSpPr>
        <p:spPr>
          <a:xfrm>
            <a:off x="838200" y="1322962"/>
            <a:ext cx="10515600" cy="4854001"/>
          </a:xfrm>
        </p:spPr>
        <p:txBody>
          <a:bodyPr/>
          <a:lstStyle/>
          <a:p>
            <a:r>
              <a:rPr lang="en-GB" b="1" i="0" dirty="0">
                <a:solidFill>
                  <a:srgbClr val="000000"/>
                </a:solidFill>
                <a:effectLst/>
                <a:latin typeface="Segoe UI" panose="020B0502040204020203" pitchFamily="34" charset="0"/>
              </a:rPr>
              <a:t>Set break on all requests and responses</a:t>
            </a:r>
            <a:r>
              <a:rPr lang="en-GB" b="0" i="0" dirty="0">
                <a:solidFill>
                  <a:srgbClr val="000000"/>
                </a:solidFill>
                <a:effectLst/>
                <a:latin typeface="Segoe UI" panose="020B0502040204020203" pitchFamily="34" charset="0"/>
              </a:rPr>
              <a:t> icon on the main ZAP toolbar. This button sets and </a:t>
            </a:r>
            <a:r>
              <a:rPr lang="en-GB" b="0" i="0" dirty="0" err="1">
                <a:solidFill>
                  <a:srgbClr val="000000"/>
                </a:solidFill>
                <a:effectLst/>
                <a:latin typeface="Segoe UI" panose="020B0502040204020203" pitchFamily="34" charset="0"/>
              </a:rPr>
              <a:t>unsets</a:t>
            </a:r>
            <a:r>
              <a:rPr lang="en-GB" b="0" i="0" dirty="0">
                <a:solidFill>
                  <a:srgbClr val="000000"/>
                </a:solidFill>
                <a:effectLst/>
                <a:latin typeface="Segoe UI" panose="020B0502040204020203" pitchFamily="34" charset="0"/>
              </a:rPr>
              <a:t> a global breakpoint that will trap and display the next response or request from the victim’s machine in the </a:t>
            </a:r>
            <a:r>
              <a:rPr lang="en-GB" b="1" i="0" dirty="0">
                <a:solidFill>
                  <a:srgbClr val="000000"/>
                </a:solidFill>
                <a:effectLst/>
                <a:latin typeface="Segoe UI" panose="020B0502040204020203" pitchFamily="34" charset="0"/>
              </a:rPr>
              <a:t>Break</a:t>
            </a:r>
            <a:r>
              <a:rPr lang="en-GB" b="0" i="0" dirty="0">
                <a:solidFill>
                  <a:srgbClr val="000000"/>
                </a:solidFill>
                <a:effectLst/>
                <a:latin typeface="Segoe UI" panose="020B0502040204020203" pitchFamily="34" charset="0"/>
              </a:rPr>
              <a:t> tab.</a:t>
            </a:r>
          </a:p>
          <a:p>
            <a:r>
              <a:rPr lang="en-GB" dirty="0">
                <a:solidFill>
                  <a:srgbClr val="000000"/>
                </a:solidFill>
                <a:latin typeface="Segoe UI" panose="020B0502040204020203" pitchFamily="34" charset="0"/>
              </a:rPr>
              <a:t>Open webpage on the victim machine</a:t>
            </a:r>
          </a:p>
          <a:p>
            <a:r>
              <a:rPr lang="en-GB" b="0" i="0" dirty="0">
                <a:solidFill>
                  <a:srgbClr val="000000"/>
                </a:solidFill>
                <a:effectLst/>
                <a:latin typeface="Segoe UI" panose="020B0502040204020203" pitchFamily="34" charset="0"/>
              </a:rPr>
              <a:t>in the </a:t>
            </a:r>
            <a:r>
              <a:rPr lang="en-GB" b="1" i="0" dirty="0">
                <a:solidFill>
                  <a:srgbClr val="000000"/>
                </a:solidFill>
                <a:effectLst/>
                <a:latin typeface="Segoe UI" panose="020B0502040204020203" pitchFamily="34" charset="0"/>
              </a:rPr>
              <a:t>Break</a:t>
            </a:r>
            <a:r>
              <a:rPr lang="en-GB" b="0" i="0" dirty="0">
                <a:solidFill>
                  <a:srgbClr val="000000"/>
                </a:solidFill>
                <a:effectLst/>
                <a:latin typeface="Segoe UI" panose="020B0502040204020203" pitchFamily="34" charset="0"/>
              </a:rPr>
              <a:t> tab, modify </a:t>
            </a:r>
            <a:r>
              <a:rPr lang="en-GB" b="1" i="0" dirty="0">
                <a:solidFill>
                  <a:srgbClr val="000000"/>
                </a:solidFill>
                <a:effectLst/>
                <a:latin typeface="Segoe UI" panose="020B0502040204020203" pitchFamily="34" charset="0"/>
              </a:rPr>
              <a:t>www.moviescope.com</a:t>
            </a:r>
            <a:r>
              <a:rPr lang="en-GB" b="0" i="0" dirty="0">
                <a:solidFill>
                  <a:srgbClr val="000000"/>
                </a:solidFill>
                <a:effectLst/>
                <a:latin typeface="Segoe UI" panose="020B0502040204020203" pitchFamily="34" charset="0"/>
              </a:rPr>
              <a:t> to </a:t>
            </a:r>
            <a:r>
              <a:rPr lang="en-GB" b="1" i="0" dirty="0">
                <a:solidFill>
                  <a:srgbClr val="000000"/>
                </a:solidFill>
                <a:effectLst/>
                <a:latin typeface="Segoe UI" panose="020B0502040204020203" pitchFamily="34" charset="0"/>
              </a:rPr>
              <a:t>www.goodshopping.com</a:t>
            </a:r>
            <a:r>
              <a:rPr lang="en-GB" b="0" i="0" dirty="0">
                <a:solidFill>
                  <a:srgbClr val="000000"/>
                </a:solidFill>
                <a:effectLst/>
                <a:latin typeface="Segoe UI" panose="020B0502040204020203" pitchFamily="34" charset="0"/>
              </a:rPr>
              <a:t> in all the captured GET requests.</a:t>
            </a:r>
          </a:p>
          <a:p>
            <a:r>
              <a:rPr lang="en-GB" b="0" i="0" dirty="0">
                <a:solidFill>
                  <a:srgbClr val="000000"/>
                </a:solidFill>
                <a:effectLst/>
                <a:latin typeface="Segoe UI" panose="020B0502040204020203" pitchFamily="34" charset="0"/>
              </a:rPr>
              <a:t>modify every </a:t>
            </a:r>
            <a:r>
              <a:rPr lang="en-GB" b="1" i="0" dirty="0">
                <a:solidFill>
                  <a:srgbClr val="000000"/>
                </a:solidFill>
                <a:effectLst/>
                <a:latin typeface="Segoe UI" panose="020B0502040204020203" pitchFamily="34" charset="0"/>
              </a:rPr>
              <a:t>GET</a:t>
            </a:r>
            <a:r>
              <a:rPr lang="en-GB" b="0" i="0" dirty="0">
                <a:solidFill>
                  <a:srgbClr val="000000"/>
                </a:solidFill>
                <a:effectLst/>
                <a:latin typeface="Segoe UI" panose="020B0502040204020203" pitchFamily="34" charset="0"/>
              </a:rPr>
              <a:t> request captured by </a:t>
            </a:r>
            <a:r>
              <a:rPr lang="en-GB" b="1" i="0" dirty="0">
                <a:solidFill>
                  <a:srgbClr val="000000"/>
                </a:solidFill>
                <a:effectLst/>
                <a:latin typeface="Segoe UI" panose="020B0502040204020203" pitchFamily="34" charset="0"/>
              </a:rPr>
              <a:t>OWASP ZAP</a:t>
            </a:r>
            <a:r>
              <a:rPr lang="en-GB" b="0" i="0" dirty="0">
                <a:solidFill>
                  <a:srgbClr val="000000"/>
                </a:solidFill>
                <a:effectLst/>
                <a:latin typeface="Segoe UI" panose="020B0502040204020203" pitchFamily="34" charset="0"/>
              </a:rPr>
              <a:t> until you see the </a:t>
            </a:r>
            <a:r>
              <a:rPr lang="en-GB" b="1" i="0" dirty="0">
                <a:solidFill>
                  <a:srgbClr val="000000"/>
                </a:solidFill>
                <a:effectLst/>
                <a:latin typeface="Segoe UI" panose="020B0502040204020203" pitchFamily="34" charset="0"/>
              </a:rPr>
              <a:t>www.goodshopping.com</a:t>
            </a:r>
            <a:r>
              <a:rPr lang="en-GB" b="0" i="0" dirty="0">
                <a:solidFill>
                  <a:srgbClr val="000000"/>
                </a:solidFill>
                <a:effectLst/>
                <a:latin typeface="Segoe UI" panose="020B0502040204020203" pitchFamily="34" charset="0"/>
              </a:rPr>
              <a:t> page in the victim’s machine.</a:t>
            </a:r>
            <a:endParaRPr lang="en-GB" dirty="0"/>
          </a:p>
        </p:txBody>
      </p:sp>
    </p:spTree>
    <p:extLst>
      <p:ext uri="{BB962C8B-B14F-4D97-AF65-F5344CB8AC3E}">
        <p14:creationId xmlns:p14="http://schemas.microsoft.com/office/powerpoint/2010/main" val="3592619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57A48-FFEF-3193-3041-34C6160A9C35}"/>
              </a:ext>
            </a:extLst>
          </p:cNvPr>
          <p:cNvSpPr>
            <a:spLocks noGrp="1"/>
          </p:cNvSpPr>
          <p:nvPr>
            <p:ph type="title"/>
          </p:nvPr>
        </p:nvSpPr>
        <p:spPr/>
        <p:txBody>
          <a:bodyPr/>
          <a:lstStyle/>
          <a:p>
            <a:r>
              <a:rPr lang="en-GB" dirty="0"/>
              <a:t>Task Conclusions:</a:t>
            </a:r>
            <a:br>
              <a:rPr lang="en-GB" dirty="0"/>
            </a:br>
            <a:r>
              <a:rPr lang="en-GB" dirty="0"/>
              <a:t>Proxy Redirect </a:t>
            </a:r>
          </a:p>
        </p:txBody>
      </p:sp>
      <p:pic>
        <p:nvPicPr>
          <p:cNvPr id="6" name="Picture Placeholder 5">
            <a:extLst>
              <a:ext uri="{FF2B5EF4-FFF2-40B4-BE49-F238E27FC236}">
                <a16:creationId xmlns:a16="http://schemas.microsoft.com/office/drawing/2014/main" id="{11DA6143-914A-12EF-7DA3-6108BF9C803D}"/>
              </a:ext>
            </a:extLst>
          </p:cNvPr>
          <p:cNvPicPr>
            <a:picLocks noGrp="1" noChangeAspect="1"/>
          </p:cNvPicPr>
          <p:nvPr>
            <p:ph type="pic" idx="1"/>
          </p:nvPr>
        </p:nvPicPr>
        <p:blipFill>
          <a:blip r:embed="rId3"/>
          <a:srcRect l="2317" r="2317"/>
          <a:stretch/>
        </p:blipFill>
        <p:spPr/>
      </p:pic>
      <p:sp>
        <p:nvSpPr>
          <p:cNvPr id="4" name="Text Placeholder 3">
            <a:extLst>
              <a:ext uri="{FF2B5EF4-FFF2-40B4-BE49-F238E27FC236}">
                <a16:creationId xmlns:a16="http://schemas.microsoft.com/office/drawing/2014/main" id="{65752BCA-5265-8D90-A4B9-82374190349C}"/>
              </a:ext>
            </a:extLst>
          </p:cNvPr>
          <p:cNvSpPr>
            <a:spLocks noGrp="1"/>
          </p:cNvSpPr>
          <p:nvPr>
            <p:ph type="body" sz="half" idx="2"/>
          </p:nvPr>
        </p:nvSpPr>
        <p:spPr/>
        <p:txBody>
          <a:bodyPr/>
          <a:lstStyle/>
          <a:p>
            <a:r>
              <a:rPr lang="en-GB" b="0" i="0" dirty="0">
                <a:solidFill>
                  <a:srgbClr val="000000"/>
                </a:solidFill>
                <a:effectLst/>
                <a:latin typeface="Segoe UI" panose="020B0502040204020203" pitchFamily="34" charset="0"/>
              </a:rPr>
              <a:t>The victim has navigated to </a:t>
            </a:r>
            <a:r>
              <a:rPr lang="en-GB" b="1" i="0" dirty="0">
                <a:solidFill>
                  <a:srgbClr val="000000"/>
                </a:solidFill>
                <a:effectLst/>
                <a:latin typeface="Segoe UI" panose="020B0502040204020203" pitchFamily="34" charset="0"/>
              </a:rPr>
              <a:t>www.moviescope.com</a:t>
            </a:r>
            <a:r>
              <a:rPr lang="en-GB" b="0" i="0" dirty="0">
                <a:solidFill>
                  <a:srgbClr val="000000"/>
                </a:solidFill>
                <a:effectLst/>
                <a:latin typeface="Segoe UI" panose="020B0502040204020203" pitchFamily="34" charset="0"/>
              </a:rPr>
              <a:t>, but now sees </a:t>
            </a:r>
            <a:r>
              <a:rPr lang="en-GB" b="1" i="0" dirty="0">
                <a:solidFill>
                  <a:srgbClr val="000000"/>
                </a:solidFill>
                <a:effectLst/>
                <a:latin typeface="Segoe UI" panose="020B0502040204020203" pitchFamily="34" charset="0"/>
              </a:rPr>
              <a:t>www.goodshopping.com</a:t>
            </a:r>
            <a:r>
              <a:rPr lang="en-GB" b="0" i="0" dirty="0">
                <a:solidFill>
                  <a:srgbClr val="000000"/>
                </a:solidFill>
                <a:effectLst/>
                <a:latin typeface="Segoe UI" panose="020B0502040204020203" pitchFamily="34" charset="0"/>
              </a:rPr>
              <a:t>; while the address bar displays </a:t>
            </a:r>
            <a:r>
              <a:rPr lang="en-GB" b="1" i="0" dirty="0">
                <a:solidFill>
                  <a:srgbClr val="000000"/>
                </a:solidFill>
                <a:effectLst/>
                <a:latin typeface="Segoe UI" panose="020B0502040204020203" pitchFamily="34" charset="0"/>
              </a:rPr>
              <a:t>www. moviescope.com</a:t>
            </a:r>
            <a:r>
              <a:rPr lang="en-GB" b="0" i="0" dirty="0">
                <a:solidFill>
                  <a:srgbClr val="000000"/>
                </a:solidFill>
                <a:effectLst/>
                <a:latin typeface="Segoe UI" panose="020B0502040204020203" pitchFamily="34" charset="0"/>
              </a:rPr>
              <a:t>, the window displays </a:t>
            </a:r>
            <a:r>
              <a:rPr lang="en-GB" b="1" i="0" dirty="0">
                <a:solidFill>
                  <a:srgbClr val="000000"/>
                </a:solidFill>
                <a:effectLst/>
                <a:latin typeface="Segoe UI" panose="020B0502040204020203" pitchFamily="34" charset="0"/>
              </a:rPr>
              <a:t>www.goodshopping.com</a:t>
            </a:r>
            <a:r>
              <a:rPr lang="en-GB" b="0" i="0" dirty="0">
                <a:solidFill>
                  <a:srgbClr val="000000"/>
                </a:solidFill>
                <a:effectLst/>
                <a:latin typeface="Segoe UI" panose="020B0502040204020203" pitchFamily="34" charset="0"/>
              </a:rPr>
              <a:t>.</a:t>
            </a:r>
          </a:p>
          <a:p>
            <a:endParaRPr lang="en-GB" dirty="0">
              <a:solidFill>
                <a:srgbClr val="000000"/>
              </a:solidFill>
              <a:latin typeface="Segoe UI" panose="020B0502040204020203" pitchFamily="34" charset="0"/>
            </a:endParaRPr>
          </a:p>
          <a:p>
            <a:r>
              <a:rPr lang="en-GB" dirty="0">
                <a:solidFill>
                  <a:srgbClr val="000000"/>
                </a:solidFill>
                <a:latin typeface="Segoe UI" panose="020B0502040204020203" pitchFamily="34" charset="0"/>
              </a:rPr>
              <a:t>Reflection Question :</a:t>
            </a:r>
          </a:p>
          <a:p>
            <a:r>
              <a:rPr lang="en-GB" dirty="0"/>
              <a:t>"How does modifying HTTP requests and responses in ZAP enhance your understanding of web security, and why is it important to handle such capabilities responsibly?"</a:t>
            </a:r>
          </a:p>
        </p:txBody>
      </p:sp>
    </p:spTree>
    <p:extLst>
      <p:ext uri="{BB962C8B-B14F-4D97-AF65-F5344CB8AC3E}">
        <p14:creationId xmlns:p14="http://schemas.microsoft.com/office/powerpoint/2010/main" val="4028355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E9BF0-9974-BF7D-387C-38289E78D3EA}"/>
              </a:ext>
            </a:extLst>
          </p:cNvPr>
          <p:cNvSpPr>
            <a:spLocks noGrp="1"/>
          </p:cNvSpPr>
          <p:nvPr>
            <p:ph type="title"/>
          </p:nvPr>
        </p:nvSpPr>
        <p:spPr/>
        <p:txBody>
          <a:bodyPr>
            <a:normAutofit fontScale="90000"/>
          </a:bodyPr>
          <a:lstStyle/>
          <a:p>
            <a:r>
              <a:rPr lang="en-GB" b="0" i="0" dirty="0">
                <a:solidFill>
                  <a:srgbClr val="000000"/>
                </a:solidFill>
                <a:effectLst/>
                <a:latin typeface="Segoe UI" panose="020B0502040204020203" pitchFamily="34" charset="0"/>
              </a:rPr>
              <a:t>Task 2: Intercept HTTP Traffic using </a:t>
            </a:r>
            <a:r>
              <a:rPr lang="en-GB" b="0" i="0" dirty="0" err="1">
                <a:solidFill>
                  <a:srgbClr val="000000"/>
                </a:solidFill>
                <a:effectLst/>
                <a:latin typeface="Segoe UI" panose="020B0502040204020203" pitchFamily="34" charset="0"/>
              </a:rPr>
              <a:t>bettercap</a:t>
            </a:r>
            <a:br>
              <a:rPr lang="en-GB" b="0" i="0" dirty="0">
                <a:solidFill>
                  <a:srgbClr val="000000"/>
                </a:solidFill>
                <a:effectLst/>
                <a:latin typeface="Segoe UI" panose="020B0502040204020203" pitchFamily="34" charset="0"/>
              </a:rPr>
            </a:br>
            <a:endParaRPr lang="en-GB" dirty="0"/>
          </a:p>
        </p:txBody>
      </p:sp>
      <p:pic>
        <p:nvPicPr>
          <p:cNvPr id="6" name="Content Placeholder 5">
            <a:extLst>
              <a:ext uri="{FF2B5EF4-FFF2-40B4-BE49-F238E27FC236}">
                <a16:creationId xmlns:a16="http://schemas.microsoft.com/office/drawing/2014/main" id="{4E726FC3-109F-6387-2C84-6D09FC8EF1E2}"/>
              </a:ext>
            </a:extLst>
          </p:cNvPr>
          <p:cNvPicPr>
            <a:picLocks noGrp="1" noChangeAspect="1"/>
          </p:cNvPicPr>
          <p:nvPr>
            <p:ph idx="1"/>
          </p:nvPr>
        </p:nvPicPr>
        <p:blipFill>
          <a:blip r:embed="rId3"/>
          <a:stretch>
            <a:fillRect/>
          </a:stretch>
        </p:blipFill>
        <p:spPr>
          <a:xfrm>
            <a:off x="5183188" y="1386697"/>
            <a:ext cx="6172200" cy="4075081"/>
          </a:xfrm>
        </p:spPr>
      </p:pic>
      <p:sp>
        <p:nvSpPr>
          <p:cNvPr id="4" name="Text Placeholder 3">
            <a:extLst>
              <a:ext uri="{FF2B5EF4-FFF2-40B4-BE49-F238E27FC236}">
                <a16:creationId xmlns:a16="http://schemas.microsoft.com/office/drawing/2014/main" id="{C9B5AD22-29C5-60B5-D0BB-5FE3A708FD21}"/>
              </a:ext>
            </a:extLst>
          </p:cNvPr>
          <p:cNvSpPr>
            <a:spLocks noGrp="1"/>
          </p:cNvSpPr>
          <p:nvPr>
            <p:ph type="body" sz="half" idx="2"/>
          </p:nvPr>
        </p:nvSpPr>
        <p:spPr/>
        <p:txBody>
          <a:bodyPr>
            <a:normAutofit lnSpcReduction="10000"/>
          </a:bodyPr>
          <a:lstStyle/>
          <a:p>
            <a:pPr algn="l"/>
            <a:r>
              <a:rPr lang="en-GB" b="0" i="0" dirty="0">
                <a:solidFill>
                  <a:srgbClr val="000000"/>
                </a:solidFill>
                <a:effectLst/>
                <a:latin typeface="Segoe UI" panose="020B0502040204020203" pitchFamily="34" charset="0"/>
              </a:rPr>
              <a:t>Attackers can use session hijacking to launch various kinds of attacks such as man-in-the middle (MITM) attacks. In an MITM attack, the attacker places himself/herself between the authorized client and the webserver so that all information traveling in either direction passes through them.</a:t>
            </a:r>
          </a:p>
          <a:p>
            <a:pPr algn="l"/>
            <a:r>
              <a:rPr lang="en-GB" b="0" i="0" dirty="0">
                <a:solidFill>
                  <a:srgbClr val="000000"/>
                </a:solidFill>
                <a:effectLst/>
                <a:latin typeface="Segoe UI" panose="020B0502040204020203" pitchFamily="34" charset="0"/>
              </a:rPr>
              <a:t>An ethical hacker or a penetration tester, you must know how MITM attacks work, so that you can protect your organization’s sensitive information from them. </a:t>
            </a:r>
            <a:r>
              <a:rPr lang="en-GB" b="0" i="0" dirty="0" err="1">
                <a:solidFill>
                  <a:srgbClr val="000000"/>
                </a:solidFill>
                <a:effectLst/>
                <a:latin typeface="Segoe UI" panose="020B0502040204020203" pitchFamily="34" charset="0"/>
              </a:rPr>
              <a:t>bettercap</a:t>
            </a:r>
            <a:r>
              <a:rPr lang="en-GB" b="0" i="0" dirty="0">
                <a:solidFill>
                  <a:srgbClr val="000000"/>
                </a:solidFill>
                <a:effectLst/>
                <a:latin typeface="Segoe UI" panose="020B0502040204020203" pitchFamily="34" charset="0"/>
              </a:rPr>
              <a:t> is a powerful, flexible, and portable tool created to perform various types of MITM attacks against a network; manipulate HTTP, HTTPS, and TCP traffic in real-time; sniff for credentials; etc.</a:t>
            </a:r>
          </a:p>
          <a:p>
            <a:endParaRPr lang="en-GB" dirty="0"/>
          </a:p>
        </p:txBody>
      </p:sp>
    </p:spTree>
    <p:extLst>
      <p:ext uri="{BB962C8B-B14F-4D97-AF65-F5344CB8AC3E}">
        <p14:creationId xmlns:p14="http://schemas.microsoft.com/office/powerpoint/2010/main" val="2899612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D2AF9-1CB9-0B72-8F8C-50093CE8EFF3}"/>
              </a:ext>
            </a:extLst>
          </p:cNvPr>
          <p:cNvSpPr>
            <a:spLocks noGrp="1"/>
          </p:cNvSpPr>
          <p:nvPr>
            <p:ph type="title"/>
          </p:nvPr>
        </p:nvSpPr>
        <p:spPr>
          <a:xfrm>
            <a:off x="839788" y="457200"/>
            <a:ext cx="3932237" cy="652462"/>
          </a:xfrm>
        </p:spPr>
        <p:txBody>
          <a:bodyPr/>
          <a:lstStyle/>
          <a:p>
            <a:r>
              <a:rPr lang="en-GB" dirty="0" err="1"/>
              <a:t>Bettercap</a:t>
            </a:r>
            <a:r>
              <a:rPr lang="en-GB" dirty="0"/>
              <a:t> </a:t>
            </a:r>
          </a:p>
        </p:txBody>
      </p:sp>
      <p:pic>
        <p:nvPicPr>
          <p:cNvPr id="5" name="Content Placeholder 4">
            <a:extLst>
              <a:ext uri="{FF2B5EF4-FFF2-40B4-BE49-F238E27FC236}">
                <a16:creationId xmlns:a16="http://schemas.microsoft.com/office/drawing/2014/main" id="{3E092C01-68F6-6315-FFD9-3063CA16F9BE}"/>
              </a:ext>
            </a:extLst>
          </p:cNvPr>
          <p:cNvPicPr>
            <a:picLocks noGrp="1" noChangeAspect="1"/>
          </p:cNvPicPr>
          <p:nvPr>
            <p:ph idx="1"/>
          </p:nvPr>
        </p:nvPicPr>
        <p:blipFill>
          <a:blip r:embed="rId3"/>
          <a:stretch>
            <a:fillRect/>
          </a:stretch>
        </p:blipFill>
        <p:spPr>
          <a:xfrm>
            <a:off x="5183188" y="1109662"/>
            <a:ext cx="6172200" cy="4629150"/>
          </a:xfrm>
          <a:prstGeom prst="rect">
            <a:avLst/>
          </a:prstGeom>
        </p:spPr>
      </p:pic>
      <p:sp>
        <p:nvSpPr>
          <p:cNvPr id="4" name="Text Placeholder 3">
            <a:extLst>
              <a:ext uri="{FF2B5EF4-FFF2-40B4-BE49-F238E27FC236}">
                <a16:creationId xmlns:a16="http://schemas.microsoft.com/office/drawing/2014/main" id="{4E1870FB-E01A-872F-2A5D-B06F32D9A488}"/>
              </a:ext>
            </a:extLst>
          </p:cNvPr>
          <p:cNvSpPr>
            <a:spLocks noGrp="1"/>
          </p:cNvSpPr>
          <p:nvPr>
            <p:ph type="body" sz="half" idx="2"/>
          </p:nvPr>
        </p:nvSpPr>
        <p:spPr>
          <a:xfrm>
            <a:off x="839788" y="1239838"/>
            <a:ext cx="3932237" cy="4629150"/>
          </a:xfrm>
        </p:spPr>
        <p:txBody>
          <a:bodyPr>
            <a:normAutofit fontScale="85000" lnSpcReduction="20000"/>
          </a:bodyPr>
          <a:lstStyle/>
          <a:p>
            <a:r>
              <a:rPr lang="en-GB" dirty="0"/>
              <a:t>Configure </a:t>
            </a:r>
            <a:r>
              <a:rPr lang="en-GB" dirty="0" err="1"/>
              <a:t>BetterCap</a:t>
            </a:r>
            <a:r>
              <a:rPr lang="en-GB" dirty="0"/>
              <a:t> interface - </a:t>
            </a:r>
            <a:r>
              <a:rPr lang="en-GB" b="0" i="0" dirty="0">
                <a:solidFill>
                  <a:srgbClr val="000000"/>
                </a:solidFill>
                <a:effectLst/>
                <a:latin typeface="Segoe UI" panose="020B0502040204020203" pitchFamily="34" charset="0"/>
              </a:rPr>
              <a:t> </a:t>
            </a:r>
            <a:r>
              <a:rPr lang="en-GB" b="1" i="0" dirty="0" err="1">
                <a:solidFill>
                  <a:srgbClr val="000000"/>
                </a:solidFill>
                <a:effectLst/>
                <a:latin typeface="Segoe UI" panose="020B0502040204020203" pitchFamily="34" charset="0"/>
              </a:rPr>
              <a:t>bettercap</a:t>
            </a:r>
            <a:r>
              <a:rPr lang="en-GB" b="1" i="0" dirty="0">
                <a:solidFill>
                  <a:srgbClr val="000000"/>
                </a:solidFill>
                <a:effectLst/>
                <a:latin typeface="Segoe UI" panose="020B0502040204020203" pitchFamily="34" charset="0"/>
              </a:rPr>
              <a:t> -</a:t>
            </a:r>
            <a:r>
              <a:rPr lang="en-GB" b="1" i="0" dirty="0" err="1">
                <a:solidFill>
                  <a:srgbClr val="000000"/>
                </a:solidFill>
                <a:effectLst/>
                <a:latin typeface="Segoe UI" panose="020B0502040204020203" pitchFamily="34" charset="0"/>
              </a:rPr>
              <a:t>iface</a:t>
            </a:r>
            <a:r>
              <a:rPr lang="en-GB" b="1" i="0" dirty="0">
                <a:solidFill>
                  <a:srgbClr val="000000"/>
                </a:solidFill>
                <a:effectLst/>
                <a:latin typeface="Segoe UI" panose="020B0502040204020203" pitchFamily="34" charset="0"/>
              </a:rPr>
              <a:t> eth0</a:t>
            </a:r>
            <a:r>
              <a:rPr lang="en-GB" b="0" i="0" dirty="0">
                <a:solidFill>
                  <a:srgbClr val="000000"/>
                </a:solidFill>
                <a:effectLst/>
                <a:latin typeface="Segoe UI" panose="020B0502040204020203" pitchFamily="34" charset="0"/>
              </a:rPr>
              <a:t> </a:t>
            </a:r>
          </a:p>
          <a:p>
            <a:r>
              <a:rPr lang="en-GB" dirty="0">
                <a:solidFill>
                  <a:srgbClr val="000000"/>
                </a:solidFill>
                <a:latin typeface="Segoe UI" panose="020B0502040204020203" pitchFamily="34" charset="0"/>
              </a:rPr>
              <a:t>Enable the following modules:</a:t>
            </a:r>
            <a:endParaRPr lang="en-GB" dirty="0"/>
          </a:p>
          <a:p>
            <a:r>
              <a:rPr lang="en-GB" b="1" i="0" dirty="0" err="1">
                <a:solidFill>
                  <a:srgbClr val="000000"/>
                </a:solidFill>
                <a:effectLst/>
                <a:latin typeface="Segoe UI" panose="020B0502040204020203" pitchFamily="34" charset="0"/>
              </a:rPr>
              <a:t>net.probe</a:t>
            </a:r>
            <a:r>
              <a:rPr lang="en-GB" b="1" i="0" dirty="0">
                <a:solidFill>
                  <a:srgbClr val="000000"/>
                </a:solidFill>
                <a:effectLst/>
                <a:latin typeface="Segoe UI" panose="020B0502040204020203" pitchFamily="34" charset="0"/>
              </a:rPr>
              <a:t> on</a:t>
            </a:r>
            <a:endParaRPr lang="en-GB" b="0" i="0" dirty="0">
              <a:solidFill>
                <a:srgbClr val="000000"/>
              </a:solidFill>
              <a:effectLst/>
              <a:latin typeface="Segoe UI" panose="020B0502040204020203" pitchFamily="34" charset="0"/>
            </a:endParaRPr>
          </a:p>
          <a:p>
            <a:r>
              <a:rPr lang="en-GB" b="1" i="0" dirty="0" err="1">
                <a:solidFill>
                  <a:srgbClr val="000000"/>
                </a:solidFill>
                <a:effectLst/>
                <a:latin typeface="Segoe UI" panose="020B0502040204020203" pitchFamily="34" charset="0"/>
              </a:rPr>
              <a:t>net.recon</a:t>
            </a:r>
            <a:r>
              <a:rPr lang="en-GB" b="1" i="0" dirty="0">
                <a:solidFill>
                  <a:srgbClr val="000000"/>
                </a:solidFill>
                <a:effectLst/>
                <a:latin typeface="Segoe UI" panose="020B0502040204020203" pitchFamily="34" charset="0"/>
              </a:rPr>
              <a:t> on</a:t>
            </a:r>
            <a:endParaRPr lang="en-GB" b="0" i="0" dirty="0">
              <a:solidFill>
                <a:srgbClr val="000000"/>
              </a:solidFill>
              <a:effectLst/>
              <a:latin typeface="Segoe UI" panose="020B0502040204020203" pitchFamily="34" charset="0"/>
            </a:endParaRPr>
          </a:p>
          <a:p>
            <a:r>
              <a:rPr lang="en-GB" b="1" i="0" dirty="0">
                <a:solidFill>
                  <a:srgbClr val="000000"/>
                </a:solidFill>
                <a:effectLst/>
                <a:latin typeface="Segoe UI" panose="020B0502040204020203" pitchFamily="34" charset="0"/>
              </a:rPr>
              <a:t>set </a:t>
            </a:r>
            <a:r>
              <a:rPr lang="en-GB" b="1" i="0" dirty="0" err="1">
                <a:solidFill>
                  <a:srgbClr val="000000"/>
                </a:solidFill>
                <a:effectLst/>
                <a:latin typeface="Segoe UI" panose="020B0502040204020203" pitchFamily="34" charset="0"/>
              </a:rPr>
              <a:t>http.proxy.sslstrip</a:t>
            </a:r>
            <a:r>
              <a:rPr lang="en-GB" b="1" i="0" dirty="0">
                <a:solidFill>
                  <a:srgbClr val="000000"/>
                </a:solidFill>
                <a:effectLst/>
                <a:latin typeface="Segoe UI" panose="020B0502040204020203" pitchFamily="34" charset="0"/>
              </a:rPr>
              <a:t> true</a:t>
            </a:r>
            <a:r>
              <a:rPr lang="en-GB" b="0" i="0" dirty="0">
                <a:solidFill>
                  <a:srgbClr val="000000"/>
                </a:solidFill>
                <a:effectLst/>
                <a:latin typeface="Segoe UI" panose="020B0502040204020203" pitchFamily="34" charset="0"/>
              </a:rPr>
              <a:t> This module enables SSL stripping.</a:t>
            </a:r>
          </a:p>
          <a:p>
            <a:r>
              <a:rPr lang="en-GB" b="1" i="0" dirty="0">
                <a:solidFill>
                  <a:srgbClr val="000000"/>
                </a:solidFill>
                <a:effectLst/>
                <a:latin typeface="Segoe UI" panose="020B0502040204020203" pitchFamily="34" charset="0"/>
              </a:rPr>
              <a:t>set </a:t>
            </a:r>
            <a:r>
              <a:rPr lang="en-GB" b="1" i="0" dirty="0" err="1">
                <a:solidFill>
                  <a:srgbClr val="000000"/>
                </a:solidFill>
                <a:effectLst/>
                <a:latin typeface="Segoe UI" panose="020B0502040204020203" pitchFamily="34" charset="0"/>
              </a:rPr>
              <a:t>arp.spoof.internal</a:t>
            </a:r>
            <a:r>
              <a:rPr lang="en-GB" b="1" i="0" dirty="0">
                <a:solidFill>
                  <a:srgbClr val="000000"/>
                </a:solidFill>
                <a:effectLst/>
                <a:latin typeface="Segoe UI" panose="020B0502040204020203" pitchFamily="34" charset="0"/>
              </a:rPr>
              <a:t> true</a:t>
            </a:r>
          </a:p>
          <a:p>
            <a:r>
              <a:rPr lang="en-GB" b="1" i="0" dirty="0">
                <a:solidFill>
                  <a:srgbClr val="000000"/>
                </a:solidFill>
                <a:effectLst/>
                <a:latin typeface="Segoe UI" panose="020B0502040204020203" pitchFamily="34" charset="0"/>
              </a:rPr>
              <a:t>set </a:t>
            </a:r>
            <a:r>
              <a:rPr lang="en-GB" b="1" i="0" dirty="0" err="1">
                <a:solidFill>
                  <a:srgbClr val="000000"/>
                </a:solidFill>
                <a:effectLst/>
                <a:latin typeface="Segoe UI" panose="020B0502040204020203" pitchFamily="34" charset="0"/>
              </a:rPr>
              <a:t>arp.spoof.targets</a:t>
            </a:r>
            <a:r>
              <a:rPr lang="en-GB" b="1" i="0" dirty="0">
                <a:solidFill>
                  <a:srgbClr val="000000"/>
                </a:solidFill>
                <a:effectLst/>
                <a:latin typeface="Segoe UI" panose="020B0502040204020203" pitchFamily="34" charset="0"/>
              </a:rPr>
              <a:t> 10.10.1.11</a:t>
            </a:r>
          </a:p>
          <a:p>
            <a:r>
              <a:rPr lang="en-GB" b="1" i="0" dirty="0" err="1">
                <a:solidFill>
                  <a:srgbClr val="000000"/>
                </a:solidFill>
                <a:effectLst/>
                <a:latin typeface="Segoe UI" panose="020B0502040204020203" pitchFamily="34" charset="0"/>
              </a:rPr>
              <a:t>http.proxy</a:t>
            </a:r>
            <a:r>
              <a:rPr lang="en-GB" b="1" i="0" dirty="0">
                <a:solidFill>
                  <a:srgbClr val="000000"/>
                </a:solidFill>
                <a:effectLst/>
                <a:latin typeface="Segoe UI" panose="020B0502040204020203" pitchFamily="34" charset="0"/>
              </a:rPr>
              <a:t> on</a:t>
            </a:r>
            <a:r>
              <a:rPr lang="en-GB" b="0" i="0" dirty="0">
                <a:solidFill>
                  <a:srgbClr val="000000"/>
                </a:solidFill>
                <a:effectLst/>
                <a:latin typeface="Segoe UI" panose="020B0502040204020203" pitchFamily="34" charset="0"/>
              </a:rPr>
              <a:t> and press </a:t>
            </a:r>
            <a:r>
              <a:rPr lang="en-GB" b="1" i="0" dirty="0">
                <a:solidFill>
                  <a:srgbClr val="000000"/>
                </a:solidFill>
                <a:effectLst/>
                <a:latin typeface="Segoe UI" panose="020B0502040204020203" pitchFamily="34" charset="0"/>
              </a:rPr>
              <a:t>Enter</a:t>
            </a:r>
            <a:r>
              <a:rPr lang="en-GB" b="0" i="0" dirty="0">
                <a:solidFill>
                  <a:srgbClr val="000000"/>
                </a:solidFill>
                <a:effectLst/>
                <a:latin typeface="Segoe UI" panose="020B0502040204020203" pitchFamily="34" charset="0"/>
              </a:rPr>
              <a:t>. This module initiates http proxy.</a:t>
            </a:r>
            <a:endParaRPr lang="en-GB" b="1" i="0" dirty="0">
              <a:solidFill>
                <a:srgbClr val="000000"/>
              </a:solidFill>
              <a:effectLst/>
              <a:latin typeface="Segoe UI" panose="020B0502040204020203" pitchFamily="34" charset="0"/>
            </a:endParaRPr>
          </a:p>
          <a:p>
            <a:r>
              <a:rPr lang="en-GB" b="1" i="0" dirty="0" err="1">
                <a:solidFill>
                  <a:srgbClr val="000000"/>
                </a:solidFill>
                <a:effectLst/>
                <a:latin typeface="Segoe UI" panose="020B0502040204020203" pitchFamily="34" charset="0"/>
              </a:rPr>
              <a:t>arp.spoof</a:t>
            </a:r>
            <a:r>
              <a:rPr lang="en-GB" b="1" i="0" dirty="0">
                <a:solidFill>
                  <a:srgbClr val="000000"/>
                </a:solidFill>
                <a:effectLst/>
                <a:latin typeface="Segoe UI" panose="020B0502040204020203" pitchFamily="34" charset="0"/>
              </a:rPr>
              <a:t> on</a:t>
            </a:r>
            <a:r>
              <a:rPr lang="en-GB" b="0" i="0" dirty="0">
                <a:solidFill>
                  <a:srgbClr val="000000"/>
                </a:solidFill>
                <a:effectLst/>
                <a:latin typeface="Segoe UI" panose="020B0502040204020203" pitchFamily="34" charset="0"/>
              </a:rPr>
              <a:t> and press </a:t>
            </a:r>
            <a:r>
              <a:rPr lang="en-GB" b="1" i="0" dirty="0">
                <a:solidFill>
                  <a:srgbClr val="000000"/>
                </a:solidFill>
                <a:effectLst/>
                <a:latin typeface="Segoe UI" panose="020B0502040204020203" pitchFamily="34" charset="0"/>
              </a:rPr>
              <a:t>Enter</a:t>
            </a:r>
            <a:r>
              <a:rPr lang="en-GB" b="0" i="0" dirty="0">
                <a:solidFill>
                  <a:srgbClr val="000000"/>
                </a:solidFill>
                <a:effectLst/>
                <a:latin typeface="Segoe UI" panose="020B0502040204020203" pitchFamily="34" charset="0"/>
              </a:rPr>
              <a:t>. This module initiates ARP spoofing.</a:t>
            </a:r>
          </a:p>
          <a:p>
            <a:r>
              <a:rPr lang="en-GB" b="1" i="0" dirty="0" err="1">
                <a:solidFill>
                  <a:srgbClr val="000000"/>
                </a:solidFill>
                <a:effectLst/>
                <a:latin typeface="Segoe UI" panose="020B0502040204020203" pitchFamily="34" charset="0"/>
              </a:rPr>
              <a:t>net.sniff</a:t>
            </a:r>
            <a:r>
              <a:rPr lang="en-GB" b="1" i="0" dirty="0">
                <a:solidFill>
                  <a:srgbClr val="000000"/>
                </a:solidFill>
                <a:effectLst/>
                <a:latin typeface="Segoe UI" panose="020B0502040204020203" pitchFamily="34" charset="0"/>
              </a:rPr>
              <a:t> on</a:t>
            </a:r>
            <a:r>
              <a:rPr lang="en-GB" b="0" i="0" dirty="0">
                <a:solidFill>
                  <a:srgbClr val="000000"/>
                </a:solidFill>
                <a:effectLst/>
                <a:latin typeface="Segoe UI" panose="020B0502040204020203" pitchFamily="34" charset="0"/>
              </a:rPr>
              <a:t> and press </a:t>
            </a:r>
            <a:r>
              <a:rPr lang="en-GB" b="1" i="0" dirty="0">
                <a:solidFill>
                  <a:srgbClr val="000000"/>
                </a:solidFill>
                <a:effectLst/>
                <a:latin typeface="Segoe UI" panose="020B0502040204020203" pitchFamily="34" charset="0"/>
              </a:rPr>
              <a:t>Enter</a:t>
            </a:r>
            <a:r>
              <a:rPr lang="en-GB" b="0" i="0" dirty="0">
                <a:solidFill>
                  <a:srgbClr val="000000"/>
                </a:solidFill>
                <a:effectLst/>
                <a:latin typeface="Segoe UI" panose="020B0502040204020203" pitchFamily="34" charset="0"/>
              </a:rPr>
              <a:t>. This module is responsible for performing sniffing on the network.</a:t>
            </a:r>
            <a:endParaRPr lang="en-GB" dirty="0">
              <a:solidFill>
                <a:srgbClr val="000000"/>
              </a:solidFill>
              <a:latin typeface="Segoe UI" panose="020B0502040204020203" pitchFamily="34" charset="0"/>
            </a:endParaRPr>
          </a:p>
          <a:p>
            <a:r>
              <a:rPr lang="en-GB" b="1" i="0" dirty="0">
                <a:solidFill>
                  <a:srgbClr val="000000"/>
                </a:solidFill>
                <a:effectLst/>
                <a:latin typeface="Segoe UI" panose="020B0502040204020203" pitchFamily="34" charset="0"/>
              </a:rPr>
              <a:t>set </a:t>
            </a:r>
            <a:r>
              <a:rPr lang="en-GB" b="1" i="0" dirty="0" err="1">
                <a:solidFill>
                  <a:srgbClr val="000000"/>
                </a:solidFill>
                <a:effectLst/>
                <a:latin typeface="Segoe UI" panose="020B0502040204020203" pitchFamily="34" charset="0"/>
              </a:rPr>
              <a:t>net.sniff.regexp</a:t>
            </a:r>
            <a:r>
              <a:rPr lang="en-GB" b="1" i="0" dirty="0">
                <a:solidFill>
                  <a:srgbClr val="000000"/>
                </a:solidFill>
                <a:effectLst/>
                <a:latin typeface="Segoe UI" panose="020B0502040204020203" pitchFamily="34" charset="0"/>
              </a:rPr>
              <a:t> ‘.*password=.+’</a:t>
            </a:r>
            <a:r>
              <a:rPr lang="en-GB" b="0" i="0" dirty="0">
                <a:solidFill>
                  <a:srgbClr val="000000"/>
                </a:solidFill>
                <a:effectLst/>
                <a:latin typeface="Segoe UI" panose="020B0502040204020203" pitchFamily="34" charset="0"/>
              </a:rPr>
              <a:t> and press </a:t>
            </a:r>
            <a:r>
              <a:rPr lang="en-GB" b="1" i="0" dirty="0">
                <a:solidFill>
                  <a:srgbClr val="000000"/>
                </a:solidFill>
                <a:effectLst/>
                <a:latin typeface="Segoe UI" panose="020B0502040204020203" pitchFamily="34" charset="0"/>
              </a:rPr>
              <a:t>Enter</a:t>
            </a:r>
            <a:r>
              <a:rPr lang="en-GB" b="0" i="0" dirty="0">
                <a:solidFill>
                  <a:srgbClr val="000000"/>
                </a:solidFill>
                <a:effectLst/>
                <a:latin typeface="Segoe UI" panose="020B0502040204020203" pitchFamily="34" charset="0"/>
              </a:rPr>
              <a:t>. This module will only consider the packets sent with a payload matching the given regular expression (in this case, </a:t>
            </a:r>
            <a:r>
              <a:rPr lang="en-GB" b="1" i="0" dirty="0">
                <a:solidFill>
                  <a:srgbClr val="000000"/>
                </a:solidFill>
                <a:effectLst/>
                <a:latin typeface="Segoe UI" panose="020B0502040204020203" pitchFamily="34" charset="0"/>
              </a:rPr>
              <a:t>‘.*password=.+’</a:t>
            </a:r>
            <a:r>
              <a:rPr lang="en-GB" b="0" i="0" dirty="0">
                <a:solidFill>
                  <a:srgbClr val="000000"/>
                </a:solidFill>
                <a:effectLst/>
                <a:latin typeface="Segoe UI" panose="020B0502040204020203" pitchFamily="34" charset="0"/>
              </a:rPr>
              <a:t>).</a:t>
            </a:r>
            <a:endParaRPr lang="en-GB" dirty="0"/>
          </a:p>
          <a:p>
            <a:endParaRPr lang="en-GB" b="1" i="0" dirty="0">
              <a:solidFill>
                <a:srgbClr val="000000"/>
              </a:solidFill>
              <a:effectLst/>
              <a:latin typeface="Segoe UI" panose="020B0502040204020203" pitchFamily="34" charset="0"/>
            </a:endParaRPr>
          </a:p>
          <a:p>
            <a:endParaRPr lang="en-GB" dirty="0"/>
          </a:p>
        </p:txBody>
      </p:sp>
    </p:spTree>
    <p:extLst>
      <p:ext uri="{BB962C8B-B14F-4D97-AF65-F5344CB8AC3E}">
        <p14:creationId xmlns:p14="http://schemas.microsoft.com/office/powerpoint/2010/main" val="258033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C594F-DB9B-EBBA-FD70-2AF34D4515F6}"/>
              </a:ext>
            </a:extLst>
          </p:cNvPr>
          <p:cNvSpPr>
            <a:spLocks noGrp="1"/>
          </p:cNvSpPr>
          <p:nvPr>
            <p:ph type="title"/>
          </p:nvPr>
        </p:nvSpPr>
        <p:spPr>
          <a:xfrm>
            <a:off x="839788" y="457200"/>
            <a:ext cx="3932237" cy="654721"/>
          </a:xfrm>
        </p:spPr>
        <p:txBody>
          <a:bodyPr/>
          <a:lstStyle/>
          <a:p>
            <a:r>
              <a:rPr lang="en-GB" dirty="0"/>
              <a:t>Results</a:t>
            </a:r>
          </a:p>
        </p:txBody>
      </p:sp>
      <p:pic>
        <p:nvPicPr>
          <p:cNvPr id="5" name="Content Placeholder 4">
            <a:extLst>
              <a:ext uri="{FF2B5EF4-FFF2-40B4-BE49-F238E27FC236}">
                <a16:creationId xmlns:a16="http://schemas.microsoft.com/office/drawing/2014/main" id="{539D49AA-5B09-EF45-533B-5B1BC73DB53D}"/>
              </a:ext>
            </a:extLst>
          </p:cNvPr>
          <p:cNvPicPr>
            <a:picLocks noGrp="1" noChangeAspect="1"/>
          </p:cNvPicPr>
          <p:nvPr>
            <p:ph idx="1"/>
          </p:nvPr>
        </p:nvPicPr>
        <p:blipFill>
          <a:blip r:embed="rId3"/>
          <a:stretch>
            <a:fillRect/>
          </a:stretch>
        </p:blipFill>
        <p:spPr>
          <a:xfrm>
            <a:off x="5183188" y="1111921"/>
            <a:ext cx="6172200" cy="4624633"/>
          </a:xfrm>
          <a:prstGeom prst="rect">
            <a:avLst/>
          </a:prstGeom>
        </p:spPr>
      </p:pic>
      <p:sp>
        <p:nvSpPr>
          <p:cNvPr id="4" name="Text Placeholder 3">
            <a:extLst>
              <a:ext uri="{FF2B5EF4-FFF2-40B4-BE49-F238E27FC236}">
                <a16:creationId xmlns:a16="http://schemas.microsoft.com/office/drawing/2014/main" id="{1B96391B-6FCF-AA84-BEA9-630100005132}"/>
              </a:ext>
            </a:extLst>
          </p:cNvPr>
          <p:cNvSpPr>
            <a:spLocks noGrp="1"/>
          </p:cNvSpPr>
          <p:nvPr>
            <p:ph type="body" sz="half" idx="2"/>
          </p:nvPr>
        </p:nvSpPr>
        <p:spPr>
          <a:xfrm>
            <a:off x="839788" y="1111921"/>
            <a:ext cx="3932237" cy="4757067"/>
          </a:xfrm>
        </p:spPr>
        <p:txBody>
          <a:bodyPr>
            <a:normAutofit lnSpcReduction="10000"/>
          </a:bodyPr>
          <a:lstStyle/>
          <a:p>
            <a:r>
              <a:rPr lang="en-GB" dirty="0" err="1"/>
              <a:t>bettercap</a:t>
            </a:r>
            <a:r>
              <a:rPr lang="en-GB" dirty="0"/>
              <a:t> collects all http logins used by routers, servers, and websites that do not have SSL enabled. In this task, we are using www.moviescope.com for demonstration purposes, as it is http-based. To use </a:t>
            </a:r>
            <a:r>
              <a:rPr lang="en-GB" dirty="0" err="1"/>
              <a:t>bettercap</a:t>
            </a:r>
            <a:r>
              <a:rPr lang="en-GB" dirty="0"/>
              <a:t> to sniff network traffic from https-based websites, you must enable the SSL strip module by issuing the command set </a:t>
            </a:r>
            <a:r>
              <a:rPr lang="en-GB" dirty="0" err="1"/>
              <a:t>http.proxy.sslstrip</a:t>
            </a:r>
            <a:r>
              <a:rPr lang="en-GB" dirty="0"/>
              <a:t> true.</a:t>
            </a:r>
          </a:p>
          <a:p>
            <a:r>
              <a:rPr lang="en-GB" b="0" i="0" dirty="0">
                <a:solidFill>
                  <a:srgbClr val="000000"/>
                </a:solidFill>
                <a:effectLst/>
                <a:latin typeface="Segoe UI" panose="020B0502040204020203" pitchFamily="34" charset="0"/>
              </a:rPr>
              <a:t>This concludes the demonstration of how to intercept HTTP traffic using </a:t>
            </a:r>
            <a:r>
              <a:rPr lang="en-GB" b="0" i="0" dirty="0" err="1">
                <a:solidFill>
                  <a:srgbClr val="000000"/>
                </a:solidFill>
                <a:effectLst/>
                <a:latin typeface="Segoe UI" panose="020B0502040204020203" pitchFamily="34" charset="0"/>
              </a:rPr>
              <a:t>bettercap</a:t>
            </a:r>
            <a:r>
              <a:rPr lang="en-GB" b="0" i="0" dirty="0">
                <a:solidFill>
                  <a:srgbClr val="000000"/>
                </a:solidFill>
                <a:effectLst/>
                <a:latin typeface="Segoe UI" panose="020B0502040204020203" pitchFamily="34" charset="0"/>
              </a:rPr>
              <a:t>.</a:t>
            </a:r>
            <a:endParaRPr lang="en-GB" dirty="0"/>
          </a:p>
          <a:p>
            <a:r>
              <a:rPr lang="en-GB" dirty="0"/>
              <a:t>Reflection Question :  How does using </a:t>
            </a:r>
            <a:r>
              <a:rPr lang="en-GB" dirty="0" err="1"/>
              <a:t>Bettercap</a:t>
            </a:r>
            <a:r>
              <a:rPr lang="en-GB" dirty="0"/>
              <a:t> to sniff HTTP traffic and capture unencrypted data, such as passwords, highlight the vulnerabilities of websites not properly enforcing strict HTTPS policies, such as HTTP Strict Transport Security (HSTS). , and why is it critical for web applications to implement proper encryption protocols?</a:t>
            </a:r>
          </a:p>
          <a:p>
            <a:endParaRPr lang="en-GB" dirty="0"/>
          </a:p>
        </p:txBody>
      </p:sp>
    </p:spTree>
    <p:extLst>
      <p:ext uri="{BB962C8B-B14F-4D97-AF65-F5344CB8AC3E}">
        <p14:creationId xmlns:p14="http://schemas.microsoft.com/office/powerpoint/2010/main" val="507506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E8B93-9513-9187-3B42-153E76C88518}"/>
              </a:ext>
            </a:extLst>
          </p:cNvPr>
          <p:cNvSpPr>
            <a:spLocks noGrp="1"/>
          </p:cNvSpPr>
          <p:nvPr>
            <p:ph type="title"/>
          </p:nvPr>
        </p:nvSpPr>
        <p:spPr/>
        <p:txBody>
          <a:bodyPr>
            <a:normAutofit fontScale="90000"/>
          </a:bodyPr>
          <a:lstStyle/>
          <a:p>
            <a:r>
              <a:rPr lang="en-GB" b="0" i="0" dirty="0">
                <a:solidFill>
                  <a:srgbClr val="000000"/>
                </a:solidFill>
                <a:effectLst/>
                <a:latin typeface="Segoe UI" panose="020B0502040204020203" pitchFamily="34" charset="0"/>
              </a:rPr>
              <a:t>Task 3: Intercept HTTP Traffic using Hetty</a:t>
            </a:r>
            <a:br>
              <a:rPr lang="en-GB" b="0" i="0" dirty="0">
                <a:solidFill>
                  <a:srgbClr val="000000"/>
                </a:solidFill>
                <a:effectLst/>
                <a:latin typeface="Segoe UI" panose="020B0502040204020203" pitchFamily="34" charset="0"/>
              </a:rPr>
            </a:br>
            <a:endParaRPr lang="en-GB" dirty="0"/>
          </a:p>
        </p:txBody>
      </p:sp>
      <p:pic>
        <p:nvPicPr>
          <p:cNvPr id="6" name="Content Placeholder 5">
            <a:extLst>
              <a:ext uri="{FF2B5EF4-FFF2-40B4-BE49-F238E27FC236}">
                <a16:creationId xmlns:a16="http://schemas.microsoft.com/office/drawing/2014/main" id="{865C8C2A-B5E4-75F8-CF4A-45D87E8A5E03}"/>
              </a:ext>
            </a:extLst>
          </p:cNvPr>
          <p:cNvPicPr>
            <a:picLocks noGrp="1" noChangeAspect="1"/>
          </p:cNvPicPr>
          <p:nvPr>
            <p:ph idx="1"/>
          </p:nvPr>
        </p:nvPicPr>
        <p:blipFill>
          <a:blip r:embed="rId3"/>
          <a:stretch>
            <a:fillRect/>
          </a:stretch>
        </p:blipFill>
        <p:spPr>
          <a:xfrm>
            <a:off x="6310747" y="2057400"/>
            <a:ext cx="5041465" cy="3415186"/>
          </a:xfrm>
        </p:spPr>
      </p:pic>
      <p:sp>
        <p:nvSpPr>
          <p:cNvPr id="4" name="Text Placeholder 3">
            <a:extLst>
              <a:ext uri="{FF2B5EF4-FFF2-40B4-BE49-F238E27FC236}">
                <a16:creationId xmlns:a16="http://schemas.microsoft.com/office/drawing/2014/main" id="{F41320ED-0880-037C-4094-B926C9197615}"/>
              </a:ext>
            </a:extLst>
          </p:cNvPr>
          <p:cNvSpPr>
            <a:spLocks noGrp="1"/>
          </p:cNvSpPr>
          <p:nvPr>
            <p:ph type="body" sz="half" idx="2"/>
          </p:nvPr>
        </p:nvSpPr>
        <p:spPr>
          <a:xfrm>
            <a:off x="839788" y="2057400"/>
            <a:ext cx="4588246" cy="3811588"/>
          </a:xfrm>
        </p:spPr>
        <p:txBody>
          <a:bodyPr>
            <a:normAutofit/>
          </a:bodyPr>
          <a:lstStyle/>
          <a:p>
            <a:r>
              <a:rPr lang="en-GB" b="0" i="0" dirty="0">
                <a:solidFill>
                  <a:srgbClr val="000000"/>
                </a:solidFill>
                <a:effectLst/>
                <a:latin typeface="Segoe UI" panose="020B0502040204020203" pitchFamily="34" charset="0"/>
              </a:rPr>
              <a:t>Task 3: Intercept HTTP Traffic using Hetty</a:t>
            </a:r>
          </a:p>
          <a:p>
            <a:r>
              <a:rPr lang="en-GB" b="0" i="0" dirty="0">
                <a:solidFill>
                  <a:srgbClr val="000000"/>
                </a:solidFill>
                <a:effectLst/>
                <a:latin typeface="Segoe UI" panose="020B0502040204020203" pitchFamily="34" charset="0"/>
              </a:rPr>
              <a:t>Features</a:t>
            </a:r>
          </a:p>
          <a:p>
            <a:pPr marL="285750" indent="-285750">
              <a:buFont typeface="Arial" panose="020B0604020202020204" pitchFamily="34" charset="0"/>
              <a:buChar char="•"/>
            </a:pPr>
            <a:r>
              <a:rPr lang="en-GB" b="0" i="0" dirty="0">
                <a:solidFill>
                  <a:srgbClr val="000000"/>
                </a:solidFill>
                <a:effectLst/>
                <a:latin typeface="Segoe UI" panose="020B0502040204020203" pitchFamily="34" charset="0"/>
              </a:rPr>
              <a:t>Machine-in-the-middle (MITM) HTTP proxy, with logs and advanced search</a:t>
            </a:r>
          </a:p>
          <a:p>
            <a:pPr marL="285750" indent="-285750">
              <a:buFont typeface="Arial" panose="020B0604020202020204" pitchFamily="34" charset="0"/>
              <a:buChar char="•"/>
            </a:pPr>
            <a:r>
              <a:rPr lang="en-GB" b="0" i="0" dirty="0">
                <a:solidFill>
                  <a:srgbClr val="000000"/>
                </a:solidFill>
                <a:effectLst/>
                <a:latin typeface="Segoe UI" panose="020B0502040204020203" pitchFamily="34" charset="0"/>
              </a:rPr>
              <a:t>HTTP client for manually creating/editing requests, and replay proxied requests</a:t>
            </a:r>
          </a:p>
          <a:p>
            <a:pPr marL="285750" indent="-285750">
              <a:buFont typeface="Arial" panose="020B0604020202020204" pitchFamily="34" charset="0"/>
              <a:buChar char="•"/>
            </a:pPr>
            <a:r>
              <a:rPr lang="en-GB" b="0" i="0" dirty="0">
                <a:solidFill>
                  <a:srgbClr val="000000"/>
                </a:solidFill>
                <a:effectLst/>
                <a:latin typeface="Segoe UI" panose="020B0502040204020203" pitchFamily="34" charset="0"/>
              </a:rPr>
              <a:t>Intercept requests and responses for manual review (edit, send/receive, cancel)</a:t>
            </a:r>
          </a:p>
          <a:p>
            <a:pPr marL="285750" indent="-285750">
              <a:buFont typeface="Arial" panose="020B0604020202020204" pitchFamily="34" charset="0"/>
              <a:buChar char="•"/>
            </a:pPr>
            <a:r>
              <a:rPr lang="en-GB" b="0" i="0" dirty="0">
                <a:solidFill>
                  <a:srgbClr val="000000"/>
                </a:solidFill>
                <a:effectLst/>
                <a:latin typeface="Segoe UI" panose="020B0502040204020203" pitchFamily="34" charset="0"/>
              </a:rPr>
              <a:t>Scope support, to help keep work organized</a:t>
            </a:r>
          </a:p>
          <a:p>
            <a:pPr marL="285750" indent="-285750">
              <a:buFont typeface="Arial" panose="020B0604020202020204" pitchFamily="34" charset="0"/>
              <a:buChar char="•"/>
            </a:pPr>
            <a:r>
              <a:rPr lang="en-GB" b="0" i="0" dirty="0">
                <a:solidFill>
                  <a:srgbClr val="000000"/>
                </a:solidFill>
                <a:effectLst/>
                <a:latin typeface="Segoe UI" panose="020B0502040204020203" pitchFamily="34" charset="0"/>
              </a:rPr>
              <a:t>Easy-to-use web based admin interface</a:t>
            </a:r>
          </a:p>
          <a:p>
            <a:pPr marL="285750" indent="-285750">
              <a:buFont typeface="Arial" panose="020B0604020202020204" pitchFamily="34" charset="0"/>
              <a:buChar char="•"/>
            </a:pPr>
            <a:r>
              <a:rPr lang="en-GB" b="0" i="0" dirty="0">
                <a:solidFill>
                  <a:srgbClr val="000000"/>
                </a:solidFill>
                <a:effectLst/>
                <a:latin typeface="Segoe UI" panose="020B0502040204020203" pitchFamily="34" charset="0"/>
              </a:rPr>
              <a:t>Project based database storage, to help keep work organized</a:t>
            </a:r>
          </a:p>
          <a:p>
            <a:endParaRPr lang="en-GB" dirty="0"/>
          </a:p>
        </p:txBody>
      </p:sp>
    </p:spTree>
    <p:extLst>
      <p:ext uri="{BB962C8B-B14F-4D97-AF65-F5344CB8AC3E}">
        <p14:creationId xmlns:p14="http://schemas.microsoft.com/office/powerpoint/2010/main" val="3248080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D8ED8-5989-B720-06AB-458BB7B9721F}"/>
              </a:ext>
            </a:extLst>
          </p:cNvPr>
          <p:cNvSpPr>
            <a:spLocks noGrp="1"/>
          </p:cNvSpPr>
          <p:nvPr>
            <p:ph type="title"/>
          </p:nvPr>
        </p:nvSpPr>
        <p:spPr/>
        <p:txBody>
          <a:bodyPr/>
          <a:lstStyle/>
          <a:p>
            <a:r>
              <a:rPr lang="en-GB" dirty="0"/>
              <a:t>Tasks</a:t>
            </a:r>
          </a:p>
        </p:txBody>
      </p:sp>
      <p:sp>
        <p:nvSpPr>
          <p:cNvPr id="3" name="Content Placeholder 2">
            <a:extLst>
              <a:ext uri="{FF2B5EF4-FFF2-40B4-BE49-F238E27FC236}">
                <a16:creationId xmlns:a16="http://schemas.microsoft.com/office/drawing/2014/main" id="{F23272AE-C5E7-88F5-1DF7-FD4528DE6896}"/>
              </a:ext>
            </a:extLst>
          </p:cNvPr>
          <p:cNvSpPr>
            <a:spLocks noGrp="1"/>
          </p:cNvSpPr>
          <p:nvPr>
            <p:ph idx="1"/>
          </p:nvPr>
        </p:nvSpPr>
        <p:spPr/>
        <p:txBody>
          <a:bodyPr/>
          <a:lstStyle/>
          <a:p>
            <a:r>
              <a:rPr lang="en-GB" dirty="0"/>
              <a:t>Create a project called </a:t>
            </a:r>
            <a:r>
              <a:rPr lang="en-GB" dirty="0" err="1"/>
              <a:t>moviescope</a:t>
            </a:r>
            <a:r>
              <a:rPr lang="en-GB" dirty="0"/>
              <a:t> in Hetty</a:t>
            </a:r>
          </a:p>
          <a:p>
            <a:r>
              <a:rPr lang="en-GB" dirty="0"/>
              <a:t>Reconfigure the proxy settings in the victims machine to send requests to the attackers machine with Hetty running</a:t>
            </a:r>
          </a:p>
          <a:p>
            <a:r>
              <a:rPr lang="en-GB" dirty="0"/>
              <a:t>A users credentials can be captured in Hetty proxy logs </a:t>
            </a:r>
          </a:p>
        </p:txBody>
      </p:sp>
    </p:spTree>
    <p:extLst>
      <p:ext uri="{BB962C8B-B14F-4D97-AF65-F5344CB8AC3E}">
        <p14:creationId xmlns:p14="http://schemas.microsoft.com/office/powerpoint/2010/main" val="845457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FE4A5-6A93-F5B7-E794-9F770672A07D}"/>
              </a:ext>
            </a:extLst>
          </p:cNvPr>
          <p:cNvSpPr>
            <a:spLocks noGrp="1"/>
          </p:cNvSpPr>
          <p:nvPr>
            <p:ph type="title"/>
          </p:nvPr>
        </p:nvSpPr>
        <p:spPr/>
        <p:txBody>
          <a:bodyPr/>
          <a:lstStyle/>
          <a:p>
            <a:r>
              <a:rPr lang="en-GB" dirty="0"/>
              <a:t>Obtaining the Results</a:t>
            </a:r>
            <a:br>
              <a:rPr lang="en-GB" dirty="0"/>
            </a:br>
            <a:endParaRPr lang="en-GB" dirty="0"/>
          </a:p>
        </p:txBody>
      </p:sp>
      <p:sp>
        <p:nvSpPr>
          <p:cNvPr id="4" name="Text Placeholder 3">
            <a:extLst>
              <a:ext uri="{FF2B5EF4-FFF2-40B4-BE49-F238E27FC236}">
                <a16:creationId xmlns:a16="http://schemas.microsoft.com/office/drawing/2014/main" id="{00A64F40-A8D3-7EB8-8993-C68722D853F4}"/>
              </a:ext>
            </a:extLst>
          </p:cNvPr>
          <p:cNvSpPr>
            <a:spLocks noGrp="1"/>
          </p:cNvSpPr>
          <p:nvPr>
            <p:ph type="body" sz="half" idx="2"/>
          </p:nvPr>
        </p:nvSpPr>
        <p:spPr/>
        <p:txBody>
          <a:bodyPr>
            <a:normAutofit fontScale="92500" lnSpcReduction="10000"/>
          </a:bodyPr>
          <a:lstStyle/>
          <a:p>
            <a:r>
              <a:rPr lang="en-GB" b="0" i="0" dirty="0">
                <a:solidFill>
                  <a:srgbClr val="000000"/>
                </a:solidFill>
                <a:effectLst/>
                <a:latin typeface="Segoe UI" panose="020B0502040204020203" pitchFamily="34" charset="0"/>
              </a:rPr>
              <a:t>Select the </a:t>
            </a:r>
            <a:r>
              <a:rPr lang="en-GB" b="1" i="0" dirty="0">
                <a:solidFill>
                  <a:srgbClr val="000000"/>
                </a:solidFill>
                <a:effectLst/>
                <a:latin typeface="Segoe UI" panose="020B0502040204020203" pitchFamily="34" charset="0"/>
              </a:rPr>
              <a:t>POST request</a:t>
            </a:r>
            <a:r>
              <a:rPr lang="en-GB" b="0" i="0" dirty="0">
                <a:solidFill>
                  <a:srgbClr val="000000"/>
                </a:solidFill>
                <a:effectLst/>
                <a:latin typeface="Segoe UI" panose="020B0502040204020203" pitchFamily="34" charset="0"/>
              </a:rPr>
              <a:t> and in the lower section of the page, select </a:t>
            </a:r>
            <a:r>
              <a:rPr lang="en-GB" b="1" i="0" dirty="0">
                <a:solidFill>
                  <a:srgbClr val="000000"/>
                </a:solidFill>
                <a:effectLst/>
                <a:latin typeface="Segoe UI" panose="020B0502040204020203" pitchFamily="34" charset="0"/>
              </a:rPr>
              <a:t>Body</a:t>
            </a:r>
            <a:r>
              <a:rPr lang="en-GB" b="0" i="0" dirty="0">
                <a:solidFill>
                  <a:srgbClr val="000000"/>
                </a:solidFill>
                <a:effectLst/>
                <a:latin typeface="Segoe UI" panose="020B0502040204020203" pitchFamily="34" charset="0"/>
              </a:rPr>
              <a:t> tab under </a:t>
            </a:r>
            <a:r>
              <a:rPr lang="en-GB" b="1" i="0" dirty="0">
                <a:solidFill>
                  <a:srgbClr val="000000"/>
                </a:solidFill>
                <a:effectLst/>
                <a:latin typeface="Segoe UI" panose="020B0502040204020203" pitchFamily="34" charset="0"/>
              </a:rPr>
              <a:t>POST</a:t>
            </a:r>
            <a:r>
              <a:rPr lang="en-GB" b="0" i="0" dirty="0">
                <a:solidFill>
                  <a:srgbClr val="000000"/>
                </a:solidFill>
                <a:effectLst/>
                <a:latin typeface="Segoe UI" panose="020B0502040204020203" pitchFamily="34" charset="0"/>
              </a:rPr>
              <a:t> section.</a:t>
            </a:r>
          </a:p>
          <a:p>
            <a:r>
              <a:rPr lang="en-GB" b="0" i="0" dirty="0">
                <a:solidFill>
                  <a:srgbClr val="000000"/>
                </a:solidFill>
                <a:effectLst/>
                <a:latin typeface="Segoe UI" panose="020B0502040204020203" pitchFamily="34" charset="0"/>
              </a:rPr>
              <a:t>Under the </a:t>
            </a:r>
            <a:r>
              <a:rPr lang="en-GB" b="1" i="0" dirty="0">
                <a:solidFill>
                  <a:srgbClr val="000000"/>
                </a:solidFill>
                <a:effectLst/>
                <a:latin typeface="Segoe UI" panose="020B0502040204020203" pitchFamily="34" charset="0"/>
              </a:rPr>
              <a:t>Body</a:t>
            </a:r>
            <a:r>
              <a:rPr lang="en-GB" b="0" i="0" dirty="0">
                <a:solidFill>
                  <a:srgbClr val="000000"/>
                </a:solidFill>
                <a:effectLst/>
                <a:latin typeface="Segoe UI" panose="020B0502040204020203" pitchFamily="34" charset="0"/>
              </a:rPr>
              <a:t> tab, you can observe the captured user credentials, as shown in the screenshot.</a:t>
            </a:r>
          </a:p>
          <a:p>
            <a:r>
              <a:rPr lang="en-GB" dirty="0">
                <a:solidFill>
                  <a:srgbClr val="000000"/>
                </a:solidFill>
                <a:latin typeface="Segoe UI" panose="020B0502040204020203" pitchFamily="34" charset="0"/>
              </a:rPr>
              <a:t>Conclusion:</a:t>
            </a:r>
          </a:p>
          <a:p>
            <a:r>
              <a:rPr lang="en-GB" b="0" i="0" dirty="0">
                <a:solidFill>
                  <a:srgbClr val="000000"/>
                </a:solidFill>
                <a:effectLst/>
                <a:latin typeface="Segoe UI" panose="020B0502040204020203" pitchFamily="34" charset="0"/>
              </a:rPr>
              <a:t>The captured credentials can be used to log in to the target user’s account and obtain further sensitive information.</a:t>
            </a:r>
          </a:p>
          <a:p>
            <a:r>
              <a:rPr lang="en-GB" dirty="0">
                <a:solidFill>
                  <a:srgbClr val="000000"/>
                </a:solidFill>
                <a:latin typeface="Segoe UI" panose="020B0502040204020203" pitchFamily="34" charset="0"/>
              </a:rPr>
              <a:t>Reflection </a:t>
            </a:r>
          </a:p>
          <a:p>
            <a:r>
              <a:rPr lang="en-GB" dirty="0"/>
              <a:t>What are the ethical implications of intercepting and using captured credentials during a security assessment, and how does this task influence your understanding of personal data protection in web applications?</a:t>
            </a:r>
          </a:p>
        </p:txBody>
      </p:sp>
      <p:pic>
        <p:nvPicPr>
          <p:cNvPr id="1026" name="Picture 2">
            <a:extLst>
              <a:ext uri="{FF2B5EF4-FFF2-40B4-BE49-F238E27FC236}">
                <a16:creationId xmlns:a16="http://schemas.microsoft.com/office/drawing/2014/main" id="{DF9FFE92-E18B-7A66-057C-A4774141CEA5}"/>
              </a:ext>
            </a:extLst>
          </p:cNvPr>
          <p:cNvPicPr>
            <a:picLocks noGrp="1" noChangeAspect="1" noChangeArrowheads="1"/>
          </p:cNvPicPr>
          <p:nvPr>
            <p:ph type="pic" idx="1"/>
          </p:nvPr>
        </p:nvPicPr>
        <p:blipFill>
          <a:blip r:embed="rId3">
            <a:extLst>
              <a:ext uri="{28A0092B-C50C-407E-A947-70E740481C1C}">
                <a14:useLocalDpi xmlns:a14="http://schemas.microsoft.com/office/drawing/2010/main" val="0"/>
              </a:ext>
            </a:extLst>
          </a:blip>
          <a:srcRect l="2586" r="2586"/>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06554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TotalTime>
  <Words>3067</Words>
  <Application>Microsoft Office PowerPoint</Application>
  <PresentationFormat>Widescreen</PresentationFormat>
  <Paragraphs>134</Paragraphs>
  <Slides>14</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Segoe UI</vt:lpstr>
      <vt:lpstr>Office Theme</vt:lpstr>
      <vt:lpstr>COM521 Ethical Hacking and Pen testing – Labs</vt:lpstr>
      <vt:lpstr>Session Hijacking</vt:lpstr>
      <vt:lpstr>Overview of Session Hijacking </vt:lpstr>
      <vt:lpstr>Activities: Perform Session Hijacking </vt:lpstr>
      <vt:lpstr>Zed Attack Proxy (ZAP)</vt:lpstr>
      <vt:lpstr>Tasks</vt:lpstr>
      <vt:lpstr>Tasks (Continued)</vt:lpstr>
      <vt:lpstr>Task Conclusions: Proxy Redirect </vt:lpstr>
      <vt:lpstr>Task 2: Intercept HTTP Traffic using bettercap </vt:lpstr>
      <vt:lpstr>Bettercap </vt:lpstr>
      <vt:lpstr>Results</vt:lpstr>
      <vt:lpstr>Task 3: Intercept HTTP Traffic using Hetty </vt:lpstr>
      <vt:lpstr>Tasks</vt:lpstr>
      <vt:lpstr>Obtaining the Results </vt:lpstr>
    </vt:vector>
  </TitlesOfParts>
  <Company>Solent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Warren Earle</dc:creator>
  <cp:lastModifiedBy>Warren Earle</cp:lastModifiedBy>
  <cp:revision>1</cp:revision>
  <dcterms:created xsi:type="dcterms:W3CDTF">2024-10-22T09:35:46Z</dcterms:created>
  <dcterms:modified xsi:type="dcterms:W3CDTF">2024-10-23T08:53:41Z</dcterms:modified>
</cp:coreProperties>
</file>